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63" r:id="rId5"/>
    <p:sldId id="264" r:id="rId6"/>
    <p:sldId id="265" r:id="rId7"/>
    <p:sldId id="288" r:id="rId8"/>
    <p:sldId id="268" r:id="rId9"/>
    <p:sldId id="278" r:id="rId10"/>
    <p:sldId id="257" r:id="rId11"/>
    <p:sldId id="279" r:id="rId12"/>
    <p:sldId id="280" r:id="rId13"/>
    <p:sldId id="283" r:id="rId14"/>
    <p:sldId id="286" r:id="rId15"/>
    <p:sldId id="281" r:id="rId16"/>
    <p:sldId id="284" r:id="rId17"/>
    <p:sldId id="285" r:id="rId18"/>
    <p:sldId id="282" r:id="rId19"/>
    <p:sldId id="289" r:id="rId20"/>
    <p:sldId id="290" r:id="rId21"/>
    <p:sldId id="291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4233"/>
    <a:srgbClr val="38AF56"/>
    <a:srgbClr val="FFD9A3"/>
    <a:srgbClr val="FF9900"/>
    <a:srgbClr val="FFFFFF"/>
    <a:srgbClr val="FFC400"/>
    <a:srgbClr val="4485F5"/>
    <a:srgbClr val="EA4335"/>
    <a:srgbClr val="4285F4"/>
    <a:srgbClr val="FBB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F5F1D7-107F-4C9B-A357-6560023C0A69}" v="436" dt="2026-06-11T13:45:39.3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DB2220-E46D-4830-A7A6-436591D1245A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C0D24-D4F6-4638-A511-842BBFAE6D3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97928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129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AB817-F5A7-8A0F-C1C3-B6CA899A5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7027D4-2FD5-8C7D-6F8F-746C3C4AC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8E0ABD6-A31F-5626-2A12-D6D3E1373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FADF94-35B2-3D60-8025-DA60DD1A1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1121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33BF4-8946-D2E1-EEBE-3B04DC22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C424B2-973F-AE04-B306-9486EFA64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DE4A6A-C713-BA0F-F585-84CAF56A6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2286FF-0A85-FA1D-8102-C390A4C1F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7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82054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6912B-1EE9-9719-8ECE-88608EF59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628338E-E442-E3DD-2B5D-36A6BAB5B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058A50B-C010-3CD9-5D9F-FF5AC1EAB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6CAFD2-A5CD-1B17-B22F-AB556E6D2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8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57878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3E11-385E-7B60-2AD1-C50CD8E1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7E8DF4-57F2-9340-8DB6-CAADE5A9D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595BAB7-CF57-A712-3826-72E0EBF40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D1E4F5-23D8-93D3-DDAD-A9D642DD7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9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49402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D3F2-31C1-EC79-B886-2A9C56CA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337FD41-32B1-5A6B-4ABE-1947928D5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8B766C3-D1B9-8E6F-6071-5952CEA52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9A5FA1-1638-0F9F-D222-8DAE5FE7F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10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43259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864F-02F5-68D2-9E29-BDAF8D88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DFCBD71-C664-7FE2-3406-475F510C2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CCFA5B6-1B8A-23A8-D506-526CA2A73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2B99A6-32AB-5884-8675-89CA0B6A0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1043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4166E-3BC7-9B51-B462-F94C4DAA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244D6DB-BD26-24FE-448F-DF272056B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08350D-F293-EA63-C565-2EE1532B0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C65BAB-6ABF-86F7-8095-4E017E85B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21398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89F4-3824-3872-1C2C-03BD812D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C90301A-7546-75F5-29D9-A066AABD7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3099CEA-1594-500E-FBBA-3E4F2389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B8F880-B2FF-3B6D-CC08-6B58E7DDE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13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6414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810B5-9FF7-7C23-8032-67CF927B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6DA5F9-DA6A-943D-0A4C-7A5436C83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BFBBDCF-822E-3AC2-EC60-F8EBE6A33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E8CAAB-6A5A-B2B8-B67E-DB9A9DDDA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75737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F15B-9C5D-A0AE-F163-E0E87D34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1870516-31DD-7D39-241E-483858E16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3D9292E-4BF5-DB97-2DD8-0B9BEA146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8BDB02-2FB5-6259-1A84-056E4E49B5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15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9095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5FBE-8257-C242-0656-5D18357F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0A7F568-F899-1AE6-D16B-653CCC981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ABB61F6-1086-CCD4-0046-0EFF6810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DDB40C-7000-BEEB-834B-B34DABC31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C0D24-D4F6-4638-A511-842BBFAE6D34}" type="slidenum">
              <a:rPr lang="fr-CH" smtClean="0"/>
              <a:t>16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4769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A5353-64EB-139C-8213-C196853D1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3D03797-D773-3D6B-352B-A945267DC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06ACD9-B524-38D0-111B-6C33F4EE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6B402F-9602-33EB-3A41-6FEFB10C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6711D8-71E4-DAE9-582E-415B2E09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2288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220F94-F589-C53A-EF37-ABD945EB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431346-20F8-511A-7CDE-558C9A0BE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075C0D-031E-C20B-7B1E-B6067434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FB65E2-7DD5-6A8C-E94C-10A92F33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90BBB-C730-7EFB-5A1A-5E5BCA02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0163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204D4-7FE3-D86C-2D05-52A3C9E4B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11D84-EBFD-046C-142D-085CE6362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E626ED-CB9F-12AF-720C-634483C16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CEE213-56BF-6212-5A29-B574A457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6C3482-2302-CE9A-B1EC-FEB1AE91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9122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EC09CF-8FE2-ED7E-7680-7410065D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899A70-D0DC-7FBD-4568-9D738EE84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3C5EE7-458D-CD81-A4B8-7EFF1E267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3CBCC1-FECE-7FB3-AB29-F4AB0A4D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B5B005-023D-8B70-0FB1-68482906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54361A4-09A8-3163-A51A-676C1012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60548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F19539-F40E-F777-72AF-B71D032E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C852D2-E8FD-83CB-B9FA-2C8ABDCBC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BB6F58-CC7F-8E03-55F5-CC8C05842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3CF589E-88D4-E210-377D-DE7DB6B26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FDFAB0-F617-66F7-B6C7-421E2CFCC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018FE8-013A-D3FF-06C9-2DBD4B6D5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9A3C57C-A626-F2A7-29C2-714AE1EDB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53AD9BE-9483-ABB5-B058-2366B292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245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EC463-BDF0-21D2-CE08-CBB26C7A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6D7A694-EAB1-AF7B-FE2D-70FC02F1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8CF65C-6BAA-F08E-9BF3-20D3BB07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BA8AC2-A204-6588-D60C-C53F185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4746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AAEDBB-F9EB-39A7-09C6-15FA9E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0D9E37-E248-CC12-E53D-0CC601F8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D0D323-18C0-2875-51F7-AC7ABBA8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5632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67F12F-6927-3387-CA60-285E1FCC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F6C485-B14A-4A2C-D5B6-50C1A36B9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C91C1F-3768-25EC-1A3D-F8926D45C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3319ED-1274-E1C3-FC52-2DD9E60B4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E4174D-8E09-207E-9F41-1AD147A9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E18545-DD66-50EB-0B94-D1E95F7F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35094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BA4F7-4AD3-A8E4-6A5A-06C735E0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4087C31-F6B0-D947-A89A-041CAE3F8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DE66E2E-BB29-9333-5A71-0F2761259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58BE71-84CE-ED12-99E1-05AB2E13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68EFE6-F1BA-5FDE-2742-3AE24CAB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E1D6759-D88C-2F92-49CF-F6F19DAA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95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ABA92-D0E6-6C56-B1F6-18F277F4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56C857-8591-F312-E9BD-B2ABA5A94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5D7AE9-03CF-D383-DEF4-8C98CD27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321C94-68F1-463E-1E82-4053DDBB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BFF960-EEAB-5072-D98E-8DF280C9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45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BE87A33-EBFC-C80B-0137-06476FAD6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0A8AE2-2BD7-B67F-F774-7D331FDBD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E8CCE3-0819-2C7F-C587-A8662023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0D88EA-3306-CE9D-B0F5-8A1DB350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576170-02BD-BF76-B1B9-3412AFFD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2954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5124E8-D069-375C-D8A7-670BB62D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8D5502-80D7-92F1-0034-D65560A2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9F8FB5-7746-A6DE-26C2-93DDD61A8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EB4E1E-4C3B-488C-82E8-202A8A54F0EE}" type="datetimeFigureOut">
              <a:rPr lang="fr-CH" smtClean="0"/>
              <a:t>12.06.2026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B52007-90E3-D155-15A1-2B9F67C6A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2AA759-51F6-1068-3AC9-7A33731D5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259B5-44F3-4A40-9AA7-8247B4B25EA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7059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3.svg"/><Relationship Id="rId4" Type="http://schemas.openxmlformats.org/officeDocument/2006/relationships/image" Target="../media/image21.sv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24.svg"/><Relationship Id="rId9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31.svg"/><Relationship Id="rId5" Type="http://schemas.openxmlformats.org/officeDocument/2006/relationships/image" Target="../media/image28.svg"/><Relationship Id="rId10" Type="http://schemas.openxmlformats.org/officeDocument/2006/relationships/image" Target="../media/image30.svg"/><Relationship Id="rId4" Type="http://schemas.openxmlformats.org/officeDocument/2006/relationships/image" Target="../media/image16.svg"/><Relationship Id="rId9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5.svg"/><Relationship Id="rId7" Type="http://schemas.openxmlformats.org/officeDocument/2006/relationships/image" Target="../media/image28.svg"/><Relationship Id="rId12" Type="http://schemas.openxmlformats.org/officeDocument/2006/relationships/image" Target="../media/image3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35.svg"/><Relationship Id="rId5" Type="http://schemas.openxmlformats.org/officeDocument/2006/relationships/image" Target="../media/image18.svg"/><Relationship Id="rId10" Type="http://schemas.openxmlformats.org/officeDocument/2006/relationships/image" Target="../media/image34.svg"/><Relationship Id="rId4" Type="http://schemas.openxmlformats.org/officeDocument/2006/relationships/image" Target="../media/image16.svg"/><Relationship Id="rId9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5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8.sv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2.png"/><Relationship Id="rId5" Type="http://schemas.openxmlformats.org/officeDocument/2006/relationships/image" Target="../media/image17.svg"/><Relationship Id="rId10" Type="http://schemas.openxmlformats.org/officeDocument/2006/relationships/image" Target="../media/image41.png"/><Relationship Id="rId4" Type="http://schemas.openxmlformats.org/officeDocument/2006/relationships/image" Target="../media/image16.svg"/><Relationship Id="rId9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1801B3AE-C6EC-4542-FB9A-FF663DA39895}"/>
              </a:ext>
            </a:extLst>
          </p:cNvPr>
          <p:cNvSpPr/>
          <p:nvPr/>
        </p:nvSpPr>
        <p:spPr>
          <a:xfrm>
            <a:off x="2782186" y="115186"/>
            <a:ext cx="6627628" cy="66276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3C1170F-B27B-5FD7-AF99-4D0BA03FD271}"/>
              </a:ext>
            </a:extLst>
          </p:cNvPr>
          <p:cNvSpPr/>
          <p:nvPr/>
        </p:nvSpPr>
        <p:spPr>
          <a:xfrm>
            <a:off x="3563679" y="896679"/>
            <a:ext cx="5064642" cy="506464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520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3C9D108-839F-AA9E-05D9-50B9ECDB71A7}"/>
              </a:ext>
            </a:extLst>
          </p:cNvPr>
          <p:cNvSpPr/>
          <p:nvPr/>
        </p:nvSpPr>
        <p:spPr>
          <a:xfrm>
            <a:off x="4607442" y="1940442"/>
            <a:ext cx="2977116" cy="297711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9D7EC3D-834C-9A42-642B-58CC3CCCA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6655" y="2563689"/>
            <a:ext cx="1498687" cy="149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FCD6CAB-A527-78E0-CC9B-BFDFD52E27B0}"/>
              </a:ext>
            </a:extLst>
          </p:cNvPr>
          <p:cNvSpPr txBox="1"/>
          <p:nvPr/>
        </p:nvSpPr>
        <p:spPr>
          <a:xfrm>
            <a:off x="5542139" y="3300865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I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A64943C-C679-B673-0660-CAA70251D9D7}"/>
              </a:ext>
            </a:extLst>
          </p:cNvPr>
          <p:cNvSpPr txBox="1"/>
          <p:nvPr/>
        </p:nvSpPr>
        <p:spPr>
          <a:xfrm>
            <a:off x="5542139" y="3321278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A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7527C41-0DCB-DA28-0425-A903D7D13E13}"/>
              </a:ext>
            </a:extLst>
          </p:cNvPr>
          <p:cNvSpPr txBox="1"/>
          <p:nvPr/>
        </p:nvSpPr>
        <p:spPr>
          <a:xfrm>
            <a:off x="5542139" y="3321278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x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AD5EA5E-5C67-E001-3C20-A90719347EA8}"/>
              </a:ext>
            </a:extLst>
          </p:cNvPr>
          <p:cNvSpPr txBox="1"/>
          <p:nvPr/>
        </p:nvSpPr>
        <p:spPr>
          <a:xfrm>
            <a:off x="5542139" y="3321278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e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C84C928-2552-4F0D-5970-96E720300D35}"/>
              </a:ext>
            </a:extLst>
          </p:cNvPr>
          <p:cNvSpPr txBox="1"/>
          <p:nvPr/>
        </p:nvSpPr>
        <p:spPr>
          <a:xfrm>
            <a:off x="5542139" y="3300865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t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870DCDC-3215-0518-B7CB-6EE569AB153B}"/>
              </a:ext>
            </a:extLst>
          </p:cNvPr>
          <p:cNvSpPr txBox="1"/>
          <p:nvPr/>
        </p:nvSpPr>
        <p:spPr>
          <a:xfrm>
            <a:off x="5542139" y="3300865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r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46D761A-F18E-3DEC-D0ED-D35F8F3C5C2B}"/>
              </a:ext>
            </a:extLst>
          </p:cNvPr>
          <p:cNvSpPr txBox="1"/>
          <p:nvPr/>
        </p:nvSpPr>
        <p:spPr>
          <a:xfrm>
            <a:off x="5542139" y="3300865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e</a:t>
            </a:r>
            <a:endParaRPr lang="fr-CH" sz="100" b="1">
              <a:solidFill>
                <a:srgbClr val="DF2E26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0393A43-5037-0817-4A90-4A808ADB7BBB}"/>
              </a:ext>
            </a:extLst>
          </p:cNvPr>
          <p:cNvSpPr txBox="1"/>
          <p:nvPr/>
        </p:nvSpPr>
        <p:spPr>
          <a:xfrm>
            <a:off x="5542139" y="3300865"/>
            <a:ext cx="1107721" cy="107722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00" b="1">
                <a:solidFill>
                  <a:srgbClr val="DF2E26"/>
                </a:solidFill>
              </a:rPr>
              <a:t>V</a:t>
            </a:r>
            <a:endParaRPr lang="fr-CH" sz="100" b="1">
              <a:solidFill>
                <a:srgbClr val="DF2E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99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7023-7E59-C746-E05F-001563EA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ercle : creux 16">
            <a:extLst>
              <a:ext uri="{FF2B5EF4-FFF2-40B4-BE49-F238E27FC236}">
                <a16:creationId xmlns:a16="http://schemas.microsoft.com/office/drawing/2014/main" id="{501DF2B0-D9D9-DA8A-33E4-312ADBDE25EA}"/>
              </a:ext>
            </a:extLst>
          </p:cNvPr>
          <p:cNvSpPr/>
          <p:nvPr/>
        </p:nvSpPr>
        <p:spPr>
          <a:xfrm>
            <a:off x="-6728109" y="-6527380"/>
            <a:ext cx="19912759" cy="19912759"/>
          </a:xfrm>
          <a:prstGeom prst="donut">
            <a:avLst>
              <a:gd name="adj" fmla="val 49483"/>
            </a:avLst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16CF22D2-8BAF-D029-8429-6DA0ED2C8D72}"/>
              </a:ext>
            </a:extLst>
          </p:cNvPr>
          <p:cNvSpPr/>
          <p:nvPr/>
        </p:nvSpPr>
        <p:spPr>
          <a:xfrm>
            <a:off x="-9773465" y="-8433959"/>
            <a:ext cx="26057988" cy="23725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8EB56E3-7DD9-04EA-1283-2F67F55C1E13}"/>
              </a:ext>
            </a:extLst>
          </p:cNvPr>
          <p:cNvSpPr/>
          <p:nvPr/>
        </p:nvSpPr>
        <p:spPr>
          <a:xfrm>
            <a:off x="-6700851" y="-5636330"/>
            <a:ext cx="19912760" cy="18130660"/>
          </a:xfrm>
          <a:prstGeom prst="ellipse">
            <a:avLst/>
          </a:prstGeom>
          <a:solidFill>
            <a:srgbClr val="DF2E26"/>
          </a:solidFill>
          <a:ln>
            <a:noFill/>
          </a:ln>
          <a:effectLst>
            <a:innerShdw blurRad="5207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F40F476-BBC1-ADC6-D93A-75F0F9B06929}"/>
              </a:ext>
            </a:extLst>
          </p:cNvPr>
          <p:cNvSpPr/>
          <p:nvPr/>
        </p:nvSpPr>
        <p:spPr>
          <a:xfrm>
            <a:off x="-4636840" y="-3205863"/>
            <a:ext cx="15784738" cy="13269726"/>
          </a:xfrm>
          <a:prstGeom prst="ellipse">
            <a:avLst/>
          </a:prstGeom>
          <a:solidFill>
            <a:srgbClr val="E5B9A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AE69AD8-0068-D6D0-669E-A1DBC12ACEF8}"/>
              </a:ext>
            </a:extLst>
          </p:cNvPr>
          <p:cNvSpPr txBox="1"/>
          <p:nvPr/>
        </p:nvSpPr>
        <p:spPr>
          <a:xfrm>
            <a:off x="9263231" y="3429000"/>
            <a:ext cx="1107721" cy="2256817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I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57FFED3-E5A6-8E0A-A42B-FB4CECE2D7EB}"/>
              </a:ext>
            </a:extLst>
          </p:cNvPr>
          <p:cNvSpPr txBox="1"/>
          <p:nvPr/>
        </p:nvSpPr>
        <p:spPr>
          <a:xfrm>
            <a:off x="8683935" y="3429000"/>
            <a:ext cx="1107721" cy="2215991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A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0780FDD-FD4B-5023-AA01-4DD8780A4F77}"/>
              </a:ext>
            </a:extLst>
          </p:cNvPr>
          <p:cNvSpPr txBox="1"/>
          <p:nvPr/>
        </p:nvSpPr>
        <p:spPr>
          <a:xfrm>
            <a:off x="7952241" y="3429000"/>
            <a:ext cx="1107721" cy="2215991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x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0EBE638-D455-9663-F6FD-355423CDEA18}"/>
              </a:ext>
            </a:extLst>
          </p:cNvPr>
          <p:cNvSpPr txBox="1"/>
          <p:nvPr/>
        </p:nvSpPr>
        <p:spPr>
          <a:xfrm>
            <a:off x="7296747" y="3429000"/>
            <a:ext cx="1107721" cy="2215991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e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D8FF612-F8C5-56E6-A1CD-21A140DDD22A}"/>
              </a:ext>
            </a:extLst>
          </p:cNvPr>
          <p:cNvSpPr txBox="1"/>
          <p:nvPr/>
        </p:nvSpPr>
        <p:spPr>
          <a:xfrm>
            <a:off x="6717453" y="3429000"/>
            <a:ext cx="1107721" cy="2256817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t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D3A74B2-2779-C896-CD64-8D458820737E}"/>
              </a:ext>
            </a:extLst>
          </p:cNvPr>
          <p:cNvSpPr txBox="1"/>
          <p:nvPr/>
        </p:nvSpPr>
        <p:spPr>
          <a:xfrm>
            <a:off x="6379459" y="3429000"/>
            <a:ext cx="1107721" cy="2256817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r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3E125AE-E88B-FA1F-DD25-B23A029CD610}"/>
              </a:ext>
            </a:extLst>
          </p:cNvPr>
          <p:cNvSpPr txBox="1"/>
          <p:nvPr/>
        </p:nvSpPr>
        <p:spPr>
          <a:xfrm>
            <a:off x="5798045" y="3429000"/>
            <a:ext cx="1107721" cy="2256817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e</a:t>
            </a:r>
            <a:endParaRPr lang="fr-CH" sz="13800" b="1">
              <a:solidFill>
                <a:srgbClr val="DF2E26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12663AD-66D1-C8F4-9AD9-35075BAC4563}"/>
              </a:ext>
            </a:extLst>
          </p:cNvPr>
          <p:cNvSpPr txBox="1"/>
          <p:nvPr/>
        </p:nvSpPr>
        <p:spPr>
          <a:xfrm>
            <a:off x="5303421" y="3429000"/>
            <a:ext cx="1107721" cy="2256817"/>
          </a:xfrm>
          <a:prstGeom prst="rect">
            <a:avLst/>
          </a:prstGeom>
          <a:noFill/>
          <a:effectLst>
            <a:outerShdw blurRad="50800" dist="1270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fr-FR" sz="13800" b="1">
                <a:solidFill>
                  <a:srgbClr val="DF2E26"/>
                </a:solidFill>
              </a:rPr>
              <a:t>V</a:t>
            </a:r>
            <a:endParaRPr lang="fr-CH" sz="13800" b="1">
              <a:solidFill>
                <a:srgbClr val="DF2E26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3BD451-D852-09B3-99A0-8D382E98F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29" y="2360328"/>
            <a:ext cx="3659472" cy="365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157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270F06B-4FC8-75E6-80D4-206246107E6A}"/>
              </a:ext>
            </a:extLst>
          </p:cNvPr>
          <p:cNvSpPr/>
          <p:nvPr/>
        </p:nvSpPr>
        <p:spPr>
          <a:xfrm>
            <a:off x="505838" y="2509737"/>
            <a:ext cx="3210128" cy="402725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6D93047-8B54-2E3C-E0BC-D0565831D138}"/>
              </a:ext>
            </a:extLst>
          </p:cNvPr>
          <p:cNvSpPr/>
          <p:nvPr/>
        </p:nvSpPr>
        <p:spPr>
          <a:xfrm>
            <a:off x="4377446" y="2509737"/>
            <a:ext cx="3210128" cy="4027250"/>
          </a:xfrm>
          <a:prstGeom prst="roundRect">
            <a:avLst/>
          </a:prstGeom>
          <a:solidFill>
            <a:srgbClr val="FBBC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D1C02A44-89AA-84DD-B03A-E2A42DA1F6D7}"/>
              </a:ext>
            </a:extLst>
          </p:cNvPr>
          <p:cNvSpPr/>
          <p:nvPr/>
        </p:nvSpPr>
        <p:spPr>
          <a:xfrm>
            <a:off x="8249055" y="2509737"/>
            <a:ext cx="3210128" cy="402725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F89508FC-B6A9-F48D-D4DC-530A70865DC0}"/>
              </a:ext>
            </a:extLst>
          </p:cNvPr>
          <p:cNvSpPr/>
          <p:nvPr/>
        </p:nvSpPr>
        <p:spPr>
          <a:xfrm>
            <a:off x="505838" y="544749"/>
            <a:ext cx="10953345" cy="1789889"/>
          </a:xfrm>
          <a:prstGeom prst="roundRect">
            <a:avLst/>
          </a:prstGeom>
          <a:solidFill>
            <a:srgbClr val="EA43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 sz="4000" b="1"/>
              <a:t>PME vente de service à abonnement</a:t>
            </a:r>
          </a:p>
          <a:p>
            <a:pPr algn="ctr"/>
            <a:r>
              <a:rPr lang="fr-CH" sz="4000"/>
              <a:t>Prédiction : départs de clients, demande, fraude</a:t>
            </a:r>
          </a:p>
        </p:txBody>
      </p:sp>
      <p:pic>
        <p:nvPicPr>
          <p:cNvPr id="25" name="Graphique 24" descr="Utilisateurs avec un remplissage uni">
            <a:extLst>
              <a:ext uri="{FF2B5EF4-FFF2-40B4-BE49-F238E27FC236}">
                <a16:creationId xmlns:a16="http://schemas.microsoft.com/office/drawing/2014/main" id="{F18347EB-C489-0EF7-3932-2CC7B9BF3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9148" y="2368687"/>
            <a:ext cx="1303508" cy="1303508"/>
          </a:xfrm>
          <a:prstGeom prst="rect">
            <a:avLst/>
          </a:prstGeom>
        </p:spPr>
      </p:pic>
      <p:pic>
        <p:nvPicPr>
          <p:cNvPr id="27" name="Graphique 26" descr="Sablier 30% avec un remplissage uni">
            <a:extLst>
              <a:ext uri="{FF2B5EF4-FFF2-40B4-BE49-F238E27FC236}">
                <a16:creationId xmlns:a16="http://schemas.microsoft.com/office/drawing/2014/main" id="{B636E33E-A9FA-ADF9-5568-9AE492FCA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310" y="2582692"/>
            <a:ext cx="914400" cy="914400"/>
          </a:xfrm>
          <a:prstGeom prst="rect">
            <a:avLst/>
          </a:prstGeom>
        </p:spPr>
      </p:pic>
      <p:pic>
        <p:nvPicPr>
          <p:cNvPr id="29" name="Graphique 28" descr="Coffre au trésor avec un remplissage uni">
            <a:extLst>
              <a:ext uri="{FF2B5EF4-FFF2-40B4-BE49-F238E27FC236}">
                <a16:creationId xmlns:a16="http://schemas.microsoft.com/office/drawing/2014/main" id="{466CBDC3-1B86-6A32-B110-916B96834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6919" y="2582692"/>
            <a:ext cx="914400" cy="914400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590E87EE-8F07-4629-0D99-41C1F43EB435}"/>
              </a:ext>
            </a:extLst>
          </p:cNvPr>
          <p:cNvSpPr txBox="1"/>
          <p:nvPr/>
        </p:nvSpPr>
        <p:spPr>
          <a:xfrm>
            <a:off x="505838" y="3715968"/>
            <a:ext cx="32101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400"/>
              <a:t>Pas d’équipe </a:t>
            </a:r>
            <a:r>
              <a:rPr lang="fr-CH" sz="2400" err="1"/>
              <a:t>MLOps</a:t>
            </a:r>
            <a:endParaRPr lang="fr-CH" sz="2400"/>
          </a:p>
          <a:p>
            <a:pPr algn="ctr"/>
            <a:endParaRPr lang="fr-CH" sz="2400"/>
          </a:p>
          <a:p>
            <a:pPr algn="ctr"/>
            <a:r>
              <a:rPr lang="fr-CH" sz="2400"/>
              <a:t>Data </a:t>
            </a:r>
            <a:r>
              <a:rPr lang="fr-CH" sz="2400" err="1"/>
              <a:t>scientists</a:t>
            </a:r>
            <a:r>
              <a:rPr lang="fr-CH" sz="2400"/>
              <a:t> rares et chers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91AAD18-D41F-0DE0-0925-346C8A7444FF}"/>
              </a:ext>
            </a:extLst>
          </p:cNvPr>
          <p:cNvSpPr txBox="1"/>
          <p:nvPr/>
        </p:nvSpPr>
        <p:spPr>
          <a:xfrm>
            <a:off x="4377445" y="3715968"/>
            <a:ext cx="3210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400"/>
              <a:t>Obtention de résultats rapides</a:t>
            </a:r>
          </a:p>
          <a:p>
            <a:pPr marL="342900" indent="-342900" algn="ctr">
              <a:buFontTx/>
              <a:buChar char="-"/>
            </a:pPr>
            <a:endParaRPr lang="fr-CH" sz="240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63289CA-CCE4-FF2D-F518-087AA44D518B}"/>
              </a:ext>
            </a:extLst>
          </p:cNvPr>
          <p:cNvSpPr txBox="1"/>
          <p:nvPr/>
        </p:nvSpPr>
        <p:spPr>
          <a:xfrm>
            <a:off x="8249052" y="3715968"/>
            <a:ext cx="321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2400"/>
              <a:t>Budget prévisible</a:t>
            </a:r>
          </a:p>
          <a:p>
            <a:pPr marL="342900" indent="-342900" algn="ctr">
              <a:buFontTx/>
              <a:buChar char="-"/>
            </a:pPr>
            <a:endParaRPr lang="fr-CH" sz="2400"/>
          </a:p>
        </p:txBody>
      </p:sp>
    </p:spTree>
    <p:extLst>
      <p:ext uri="{BB962C8B-B14F-4D97-AF65-F5344CB8AC3E}">
        <p14:creationId xmlns:p14="http://schemas.microsoft.com/office/powerpoint/2010/main" val="6531736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B7098-9A97-9B02-2DED-7FBA9421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que 17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5CB882A6-DB4A-DC9D-5E23-C7ABA08D4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531442">
            <a:off x="5390350" y="3660022"/>
            <a:ext cx="538812" cy="538812"/>
          </a:xfrm>
          <a:prstGeom prst="rect">
            <a:avLst/>
          </a:prstGeom>
        </p:spPr>
      </p:pic>
      <p:pic>
        <p:nvPicPr>
          <p:cNvPr id="19" name="Graphique 18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61591351-E7E6-CB45-3095-2DB0FA4DD7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2628614">
            <a:off x="5390350" y="3660022"/>
            <a:ext cx="538812" cy="538812"/>
          </a:xfrm>
          <a:prstGeom prst="rect">
            <a:avLst/>
          </a:prstGeom>
        </p:spPr>
      </p:pic>
      <p:pic>
        <p:nvPicPr>
          <p:cNvPr id="20" name="Graphique 19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D9746D1D-5A21-200D-CEF5-931E22653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7012483">
            <a:off x="5390350" y="3660022"/>
            <a:ext cx="538812" cy="538812"/>
          </a:xfrm>
          <a:prstGeom prst="rect">
            <a:avLst/>
          </a:prstGeom>
        </p:spPr>
      </p:pic>
      <p:pic>
        <p:nvPicPr>
          <p:cNvPr id="21" name="Graphique 20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69594837-DAF7-5480-96D1-D536FB51FE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0350" y="3660022"/>
            <a:ext cx="538812" cy="538812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30B5A6F9-EC8C-3262-280B-32D0279EBA4C}"/>
              </a:ext>
            </a:extLst>
          </p:cNvPr>
          <p:cNvSpPr/>
          <p:nvPr/>
        </p:nvSpPr>
        <p:spPr>
          <a:xfrm>
            <a:off x="4680887" y="2721706"/>
            <a:ext cx="1872897" cy="1872895"/>
          </a:xfrm>
          <a:prstGeom prst="ellipse">
            <a:avLst/>
          </a:prstGeom>
          <a:solidFill>
            <a:srgbClr val="FF91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7BAEE21-2EC0-5FA3-CE5A-4067D804D621}"/>
              </a:ext>
            </a:extLst>
          </p:cNvPr>
          <p:cNvSpPr/>
          <p:nvPr/>
        </p:nvSpPr>
        <p:spPr>
          <a:xfrm>
            <a:off x="4680887" y="2721706"/>
            <a:ext cx="1872897" cy="1872895"/>
          </a:xfrm>
          <a:prstGeom prst="ellipse">
            <a:avLst/>
          </a:prstGeom>
          <a:solidFill>
            <a:srgbClr val="7C4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E9A251D-E54C-F26D-0557-581DECB6FE62}"/>
              </a:ext>
            </a:extLst>
          </p:cNvPr>
          <p:cNvSpPr/>
          <p:nvPr/>
        </p:nvSpPr>
        <p:spPr>
          <a:xfrm>
            <a:off x="4680887" y="2721706"/>
            <a:ext cx="1872897" cy="1872895"/>
          </a:xfrm>
          <a:prstGeom prst="ellipse">
            <a:avLst/>
          </a:prstGeom>
          <a:solidFill>
            <a:srgbClr val="FFC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84B8452-160A-1966-7EA7-22E2C32544A1}"/>
              </a:ext>
            </a:extLst>
          </p:cNvPr>
          <p:cNvSpPr/>
          <p:nvPr/>
        </p:nvSpPr>
        <p:spPr>
          <a:xfrm>
            <a:off x="4680887" y="2721706"/>
            <a:ext cx="1872897" cy="1872895"/>
          </a:xfrm>
          <a:prstGeom prst="ellipse">
            <a:avLst/>
          </a:prstGeom>
          <a:solidFill>
            <a:srgbClr val="1565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F3C3D22-72D2-FC61-6BB9-29CDB6DAF80B}"/>
              </a:ext>
            </a:extLst>
          </p:cNvPr>
          <p:cNvSpPr/>
          <p:nvPr/>
        </p:nvSpPr>
        <p:spPr>
          <a:xfrm>
            <a:off x="4680887" y="2721706"/>
            <a:ext cx="1872897" cy="1872895"/>
          </a:xfrm>
          <a:prstGeom prst="ellipse">
            <a:avLst/>
          </a:prstGeom>
          <a:solidFill>
            <a:srgbClr val="DD2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Pentagone 6">
            <a:extLst>
              <a:ext uri="{FF2B5EF4-FFF2-40B4-BE49-F238E27FC236}">
                <a16:creationId xmlns:a16="http://schemas.microsoft.com/office/drawing/2014/main" id="{0A7EB16A-3F67-E089-5FB1-2EFFCCD13A8A}"/>
              </a:ext>
            </a:extLst>
          </p:cNvPr>
          <p:cNvSpPr/>
          <p:nvPr/>
        </p:nvSpPr>
        <p:spPr>
          <a:xfrm>
            <a:off x="3721026" y="1872896"/>
            <a:ext cx="3792619" cy="3612018"/>
          </a:xfrm>
          <a:prstGeom prst="pent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7" name="Picture 4" descr="Vertex AI Google Artificial Intelligence Services">
            <a:extLst>
              <a:ext uri="{FF2B5EF4-FFF2-40B4-BE49-F238E27FC236}">
                <a16:creationId xmlns:a16="http://schemas.microsoft.com/office/drawing/2014/main" id="{F62A378E-BB66-2F5C-0E25-810D1C2A2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95" y="3351922"/>
            <a:ext cx="1937886" cy="11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6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5D281-5F09-B5AB-1CD7-99D52D77B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que 29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71CADEFD-C559-63CA-DC77-77A92A65D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531442">
            <a:off x="6623236" y="1453759"/>
            <a:ext cx="914400" cy="914400"/>
          </a:xfrm>
          <a:prstGeom prst="rect">
            <a:avLst/>
          </a:prstGeom>
        </p:spPr>
      </p:pic>
      <p:pic>
        <p:nvPicPr>
          <p:cNvPr id="31" name="Graphique 30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B236DDA7-5AB0-085F-DF21-9C4620EC48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628614">
            <a:off x="7239204" y="4026067"/>
            <a:ext cx="914400" cy="914400"/>
          </a:xfrm>
          <a:prstGeom prst="rect">
            <a:avLst/>
          </a:prstGeom>
        </p:spPr>
      </p:pic>
      <p:pic>
        <p:nvPicPr>
          <p:cNvPr id="32" name="Graphique 31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B2722E08-75BD-155B-0645-44C8B5E71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012483">
            <a:off x="5103674" y="5580649"/>
            <a:ext cx="914400" cy="914400"/>
          </a:xfrm>
          <a:prstGeom prst="rect">
            <a:avLst/>
          </a:prstGeom>
        </p:spPr>
      </p:pic>
      <p:pic>
        <p:nvPicPr>
          <p:cNvPr id="33" name="Graphique 32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31B7D621-D73C-635A-5804-6C8FC40FE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189" y="4003353"/>
            <a:ext cx="914400" cy="9144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A196ACDF-4931-7C70-C93B-2954ED61A88D}"/>
              </a:ext>
            </a:extLst>
          </p:cNvPr>
          <p:cNvSpPr/>
          <p:nvPr/>
        </p:nvSpPr>
        <p:spPr>
          <a:xfrm>
            <a:off x="6931155" y="2122740"/>
            <a:ext cx="1872897" cy="1872895"/>
          </a:xfrm>
          <a:prstGeom prst="ellipse">
            <a:avLst/>
          </a:prstGeom>
          <a:solidFill>
            <a:srgbClr val="FF91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4851EF7-EC30-B86E-E284-3345658928C6}"/>
              </a:ext>
            </a:extLst>
          </p:cNvPr>
          <p:cNvSpPr/>
          <p:nvPr/>
        </p:nvSpPr>
        <p:spPr>
          <a:xfrm>
            <a:off x="2430619" y="2122740"/>
            <a:ext cx="1872897" cy="1872895"/>
          </a:xfrm>
          <a:prstGeom prst="ellipse">
            <a:avLst/>
          </a:prstGeom>
          <a:solidFill>
            <a:srgbClr val="7C4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5CE25A-ED30-E6CF-7FA0-A89791154B57}"/>
              </a:ext>
            </a:extLst>
          </p:cNvPr>
          <p:cNvSpPr/>
          <p:nvPr/>
        </p:nvSpPr>
        <p:spPr>
          <a:xfrm>
            <a:off x="6027401" y="4798309"/>
            <a:ext cx="1872897" cy="1872895"/>
          </a:xfrm>
          <a:prstGeom prst="ellipse">
            <a:avLst/>
          </a:prstGeom>
          <a:solidFill>
            <a:srgbClr val="48AF6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7C6CD28-FF9D-5F19-DD75-D1BD2790CDEB}"/>
              </a:ext>
            </a:extLst>
          </p:cNvPr>
          <p:cNvSpPr/>
          <p:nvPr/>
        </p:nvSpPr>
        <p:spPr>
          <a:xfrm>
            <a:off x="4704300" y="513845"/>
            <a:ext cx="1872897" cy="1872895"/>
          </a:xfrm>
          <a:prstGeom prst="ellipse">
            <a:avLst/>
          </a:prstGeom>
          <a:solidFill>
            <a:srgbClr val="1565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D8C04A9-C88F-22CB-B894-6E7016C9D235}"/>
              </a:ext>
            </a:extLst>
          </p:cNvPr>
          <p:cNvSpPr/>
          <p:nvPr/>
        </p:nvSpPr>
        <p:spPr>
          <a:xfrm>
            <a:off x="3142835" y="4798605"/>
            <a:ext cx="1872897" cy="1872895"/>
          </a:xfrm>
          <a:prstGeom prst="ellipse">
            <a:avLst/>
          </a:prstGeom>
          <a:solidFill>
            <a:srgbClr val="DD2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Pentagone 6">
            <a:extLst>
              <a:ext uri="{FF2B5EF4-FFF2-40B4-BE49-F238E27FC236}">
                <a16:creationId xmlns:a16="http://schemas.microsoft.com/office/drawing/2014/main" id="{8B42F89E-A736-0D88-A2EA-9A18CAFDB984}"/>
              </a:ext>
            </a:extLst>
          </p:cNvPr>
          <p:cNvSpPr/>
          <p:nvPr/>
        </p:nvSpPr>
        <p:spPr>
          <a:xfrm>
            <a:off x="3721026" y="1851630"/>
            <a:ext cx="3792619" cy="3612018"/>
          </a:xfrm>
          <a:prstGeom prst="pent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B16D957-8CBD-AB32-6606-58EC619FAA28}"/>
              </a:ext>
            </a:extLst>
          </p:cNvPr>
          <p:cNvSpPr txBox="1"/>
          <p:nvPr/>
        </p:nvSpPr>
        <p:spPr>
          <a:xfrm>
            <a:off x="168346" y="2429865"/>
            <a:ext cx="2217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/>
              <a:t>Monitorer :</a:t>
            </a:r>
            <a:endParaRPr lang="fr-CH" b="1"/>
          </a:p>
          <a:p>
            <a:pPr algn="r"/>
            <a:r>
              <a:rPr lang="fr-CH"/>
              <a:t>Drift / </a:t>
            </a:r>
            <a:r>
              <a:rPr lang="fr-CH" err="1"/>
              <a:t>skew</a:t>
            </a:r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020619-F731-5A1B-028D-D5246287C064}"/>
              </a:ext>
            </a:extLst>
          </p:cNvPr>
          <p:cNvSpPr txBox="1"/>
          <p:nvPr/>
        </p:nvSpPr>
        <p:spPr>
          <a:xfrm>
            <a:off x="8804052" y="2429865"/>
            <a:ext cx="279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Train : </a:t>
            </a:r>
          </a:p>
          <a:p>
            <a:r>
              <a:rPr lang="fr-CH" err="1"/>
              <a:t>AutoML</a:t>
            </a:r>
            <a:r>
              <a:rPr lang="fr-CH"/>
              <a:t> / Custom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A2E4E3-B849-5B3F-BC93-83FD3F83E87E}"/>
              </a:ext>
            </a:extLst>
          </p:cNvPr>
          <p:cNvSpPr txBox="1"/>
          <p:nvPr/>
        </p:nvSpPr>
        <p:spPr>
          <a:xfrm>
            <a:off x="428203" y="5134591"/>
            <a:ext cx="2703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/>
              <a:t>Servir :</a:t>
            </a:r>
          </a:p>
          <a:p>
            <a:pPr algn="r"/>
            <a:r>
              <a:rPr lang="fr-FR"/>
              <a:t>Endpoint / batch</a:t>
            </a:r>
            <a:endParaRPr lang="fr-CH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4B7449A-2BBF-C6CB-A71E-6B9F35D6C74E}"/>
              </a:ext>
            </a:extLst>
          </p:cNvPr>
          <p:cNvSpPr txBox="1"/>
          <p:nvPr/>
        </p:nvSpPr>
        <p:spPr>
          <a:xfrm>
            <a:off x="7911610" y="5134591"/>
            <a:ext cx="347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Évaluer :</a:t>
            </a:r>
          </a:p>
          <a:p>
            <a:r>
              <a:rPr lang="fr-FR"/>
              <a:t>Métrique / XAI</a:t>
            </a:r>
            <a:endParaRPr lang="fr-CH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8964915-6FE4-F7D7-CA42-464CEF627344}"/>
              </a:ext>
            </a:extLst>
          </p:cNvPr>
          <p:cNvSpPr txBox="1"/>
          <p:nvPr/>
        </p:nvSpPr>
        <p:spPr>
          <a:xfrm>
            <a:off x="2685378" y="-53379"/>
            <a:ext cx="5863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Data :</a:t>
            </a:r>
          </a:p>
          <a:p>
            <a:pPr algn="ctr"/>
            <a:r>
              <a:rPr lang="fr-CH" err="1"/>
              <a:t>BigQuery</a:t>
            </a:r>
            <a:r>
              <a:rPr lang="fr-CH"/>
              <a:t> / GCS</a:t>
            </a:r>
          </a:p>
        </p:txBody>
      </p:sp>
      <p:pic>
        <p:nvPicPr>
          <p:cNvPr id="28" name="Picture 4" descr="Vertex AI Google Artificial Intelligence Services">
            <a:extLst>
              <a:ext uri="{FF2B5EF4-FFF2-40B4-BE49-F238E27FC236}">
                <a16:creationId xmlns:a16="http://schemas.microsoft.com/office/drawing/2014/main" id="{BB9B0307-C8DB-D018-E8EC-4CE204B9F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95" y="3351922"/>
            <a:ext cx="1937886" cy="11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A1A59E69-F2C4-4465-757F-59CEF0E16FD3}"/>
              </a:ext>
            </a:extLst>
          </p:cNvPr>
          <p:cNvSpPr txBox="1"/>
          <p:nvPr/>
        </p:nvSpPr>
        <p:spPr>
          <a:xfrm>
            <a:off x="4675106" y="4668253"/>
            <a:ext cx="188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/>
              <a:t>Cycle de vie</a:t>
            </a:r>
          </a:p>
        </p:txBody>
      </p:sp>
      <p:pic>
        <p:nvPicPr>
          <p:cNvPr id="36" name="Graphique 35" descr="Serveur contour">
            <a:extLst>
              <a:ext uri="{FF2B5EF4-FFF2-40B4-BE49-F238E27FC236}">
                <a16:creationId xmlns:a16="http://schemas.microsoft.com/office/drawing/2014/main" id="{63558444-6310-65E5-9ED6-DF9EF8E0F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9329" y="837665"/>
            <a:ext cx="914400" cy="914400"/>
          </a:xfrm>
          <a:prstGeom prst="rect">
            <a:avLst/>
          </a:prstGeom>
        </p:spPr>
      </p:pic>
      <p:pic>
        <p:nvPicPr>
          <p:cNvPr id="38" name="Graphique 37" descr="Culturiste contour">
            <a:extLst>
              <a:ext uri="{FF2B5EF4-FFF2-40B4-BE49-F238E27FC236}">
                <a16:creationId xmlns:a16="http://schemas.microsoft.com/office/drawing/2014/main" id="{97074F44-6DAA-E50C-EF2F-EAE8503AA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3000" y="2565400"/>
            <a:ext cx="914400" cy="914400"/>
          </a:xfrm>
          <a:prstGeom prst="rect">
            <a:avLst/>
          </a:prstGeom>
        </p:spPr>
      </p:pic>
      <p:pic>
        <p:nvPicPr>
          <p:cNvPr id="40" name="Graphique 39" descr="Presse-papiers mixte contour">
            <a:extLst>
              <a:ext uri="{FF2B5EF4-FFF2-40B4-BE49-F238E27FC236}">
                <a16:creationId xmlns:a16="http://schemas.microsoft.com/office/drawing/2014/main" id="{BD6684EF-4012-3B2B-CFCB-0AC9FB67E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5100" y="5422900"/>
            <a:ext cx="914400" cy="914400"/>
          </a:xfrm>
          <a:prstGeom prst="rect">
            <a:avLst/>
          </a:prstGeom>
        </p:spPr>
      </p:pic>
      <p:pic>
        <p:nvPicPr>
          <p:cNvPr id="42" name="Graphique 41" descr="Serveur contour">
            <a:extLst>
              <a:ext uri="{FF2B5EF4-FFF2-40B4-BE49-F238E27FC236}">
                <a16:creationId xmlns:a16="http://schemas.microsoft.com/office/drawing/2014/main" id="{C590B42D-A120-5292-49DA-222467126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200" y="5435600"/>
            <a:ext cx="914400" cy="914400"/>
          </a:xfrm>
          <a:prstGeom prst="rect">
            <a:avLst/>
          </a:prstGeom>
        </p:spPr>
      </p:pic>
      <p:pic>
        <p:nvPicPr>
          <p:cNvPr id="44" name="Graphique 43" descr="Volant contour">
            <a:extLst>
              <a:ext uri="{FF2B5EF4-FFF2-40B4-BE49-F238E27FC236}">
                <a16:creationId xmlns:a16="http://schemas.microsoft.com/office/drawing/2014/main" id="{6085BDCA-4C99-BF21-CA69-79F59C2F1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04452" y="2569903"/>
            <a:ext cx="914400" cy="914400"/>
          </a:xfrm>
          <a:prstGeom prst="rect">
            <a:avLst/>
          </a:prstGeom>
        </p:spPr>
      </p:pic>
      <p:pic>
        <p:nvPicPr>
          <p:cNvPr id="45" name="Graphique 44" descr="Intelligence artificielle contour">
            <a:extLst>
              <a:ext uri="{FF2B5EF4-FFF2-40B4-BE49-F238E27FC236}">
                <a16:creationId xmlns:a16="http://schemas.microsoft.com/office/drawing/2014/main" id="{8C3988EA-7F87-3023-70FE-A9683F865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5030" y="151248"/>
            <a:ext cx="914400" cy="914400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A052C8D0-D11A-5C85-4718-6DEA06F86BA2}"/>
              </a:ext>
            </a:extLst>
          </p:cNvPr>
          <p:cNvSpPr txBox="1"/>
          <p:nvPr/>
        </p:nvSpPr>
        <p:spPr>
          <a:xfrm>
            <a:off x="8419671" y="1091053"/>
            <a:ext cx="3605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Depuis 2023 GenAI : </a:t>
            </a:r>
          </a:p>
          <a:p>
            <a:pPr algn="ctr"/>
            <a:r>
              <a:rPr lang="fr-CH"/>
              <a:t>Gemini, Model </a:t>
            </a:r>
            <a:r>
              <a:rPr lang="fr-CH" err="1"/>
              <a:t>garden</a:t>
            </a:r>
            <a:r>
              <a:rPr lang="fr-CH"/>
              <a:t>, Vertex AI studio, RAG, Agent </a:t>
            </a:r>
            <a:r>
              <a:rPr lang="fr-CH" err="1"/>
              <a:t>builder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6971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C145-8C02-DA85-E62D-7F1160BFC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que 29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31D70F75-F43D-9891-D52F-D0A8B805F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531442">
            <a:off x="6623236" y="1453759"/>
            <a:ext cx="914400" cy="914400"/>
          </a:xfrm>
          <a:prstGeom prst="rect">
            <a:avLst/>
          </a:prstGeom>
        </p:spPr>
      </p:pic>
      <p:pic>
        <p:nvPicPr>
          <p:cNvPr id="31" name="Graphique 30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C3281B14-3B85-AB3A-5C1D-FF50D6C7B1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628614">
            <a:off x="7239204" y="4026067"/>
            <a:ext cx="914400" cy="914400"/>
          </a:xfrm>
          <a:prstGeom prst="rect">
            <a:avLst/>
          </a:prstGeom>
        </p:spPr>
      </p:pic>
      <p:pic>
        <p:nvPicPr>
          <p:cNvPr id="32" name="Graphique 31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88818CA2-C2E8-4014-ADC7-6E9A0413C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012483">
            <a:off x="5103674" y="5580649"/>
            <a:ext cx="914400" cy="914400"/>
          </a:xfrm>
          <a:prstGeom prst="rect">
            <a:avLst/>
          </a:prstGeom>
        </p:spPr>
      </p:pic>
      <p:pic>
        <p:nvPicPr>
          <p:cNvPr id="33" name="Graphique 32" descr="Flèche : courbe dans le sens des aiguilles d’une montre avec un remplissage uni">
            <a:extLst>
              <a:ext uri="{FF2B5EF4-FFF2-40B4-BE49-F238E27FC236}">
                <a16:creationId xmlns:a16="http://schemas.microsoft.com/office/drawing/2014/main" id="{81311BE6-1F8D-D5A1-3D39-10A84DE16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7189" y="4003353"/>
            <a:ext cx="914400" cy="91440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01C1D6F1-647C-694A-8868-37905E1A1176}"/>
              </a:ext>
            </a:extLst>
          </p:cNvPr>
          <p:cNvSpPr/>
          <p:nvPr/>
        </p:nvSpPr>
        <p:spPr>
          <a:xfrm>
            <a:off x="6931155" y="2122740"/>
            <a:ext cx="1872897" cy="1872895"/>
          </a:xfrm>
          <a:prstGeom prst="ellipse">
            <a:avLst/>
          </a:prstGeom>
          <a:solidFill>
            <a:srgbClr val="FF9100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D8CE2FE-B0FB-1BAC-0493-2D1DB0271078}"/>
              </a:ext>
            </a:extLst>
          </p:cNvPr>
          <p:cNvSpPr/>
          <p:nvPr/>
        </p:nvSpPr>
        <p:spPr>
          <a:xfrm>
            <a:off x="2430619" y="2122740"/>
            <a:ext cx="1872897" cy="1872895"/>
          </a:xfrm>
          <a:prstGeom prst="ellipse">
            <a:avLst/>
          </a:prstGeom>
          <a:solidFill>
            <a:srgbClr val="7C4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452C8CEE-CF36-5F43-DFF0-3B68E2EDC635}"/>
              </a:ext>
            </a:extLst>
          </p:cNvPr>
          <p:cNvSpPr/>
          <p:nvPr/>
        </p:nvSpPr>
        <p:spPr>
          <a:xfrm>
            <a:off x="6027401" y="4798309"/>
            <a:ext cx="1872897" cy="1872895"/>
          </a:xfrm>
          <a:prstGeom prst="ellipse">
            <a:avLst/>
          </a:prstGeom>
          <a:solidFill>
            <a:srgbClr val="48AF6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7A3EFEA-3511-CF6E-F3DD-FF11D06D04B7}"/>
              </a:ext>
            </a:extLst>
          </p:cNvPr>
          <p:cNvSpPr/>
          <p:nvPr/>
        </p:nvSpPr>
        <p:spPr>
          <a:xfrm>
            <a:off x="4704300" y="513845"/>
            <a:ext cx="1872897" cy="1872895"/>
          </a:xfrm>
          <a:prstGeom prst="ellipse">
            <a:avLst/>
          </a:prstGeom>
          <a:solidFill>
            <a:srgbClr val="1565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35B3C71-D4E5-E6C1-A23B-CD36DF66EAED}"/>
              </a:ext>
            </a:extLst>
          </p:cNvPr>
          <p:cNvSpPr/>
          <p:nvPr/>
        </p:nvSpPr>
        <p:spPr>
          <a:xfrm>
            <a:off x="3142835" y="4798605"/>
            <a:ext cx="1872897" cy="1872895"/>
          </a:xfrm>
          <a:prstGeom prst="ellipse">
            <a:avLst/>
          </a:prstGeom>
          <a:solidFill>
            <a:srgbClr val="DD2C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Pentagone 6">
            <a:extLst>
              <a:ext uri="{FF2B5EF4-FFF2-40B4-BE49-F238E27FC236}">
                <a16:creationId xmlns:a16="http://schemas.microsoft.com/office/drawing/2014/main" id="{C9790162-6A1D-EC56-AD6B-A05F5D88FEA8}"/>
              </a:ext>
            </a:extLst>
          </p:cNvPr>
          <p:cNvSpPr/>
          <p:nvPr/>
        </p:nvSpPr>
        <p:spPr>
          <a:xfrm>
            <a:off x="3721026" y="1851630"/>
            <a:ext cx="3792619" cy="3612018"/>
          </a:xfrm>
          <a:prstGeom prst="pent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E9411EA-AE76-DAF8-B21A-48C98B755F41}"/>
              </a:ext>
            </a:extLst>
          </p:cNvPr>
          <p:cNvSpPr txBox="1"/>
          <p:nvPr/>
        </p:nvSpPr>
        <p:spPr>
          <a:xfrm>
            <a:off x="168346" y="2429865"/>
            <a:ext cx="2217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/>
              <a:t>Monitorer :</a:t>
            </a:r>
            <a:endParaRPr lang="fr-CH" b="1"/>
          </a:p>
          <a:p>
            <a:pPr algn="r"/>
            <a:r>
              <a:rPr lang="fr-CH"/>
              <a:t>Drift / </a:t>
            </a:r>
            <a:r>
              <a:rPr lang="fr-CH" err="1"/>
              <a:t>skew</a:t>
            </a:r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80A5D48-0B28-8CFD-429D-4451B08F888A}"/>
              </a:ext>
            </a:extLst>
          </p:cNvPr>
          <p:cNvSpPr txBox="1"/>
          <p:nvPr/>
        </p:nvSpPr>
        <p:spPr>
          <a:xfrm>
            <a:off x="8804052" y="2429865"/>
            <a:ext cx="2796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Train : </a:t>
            </a:r>
          </a:p>
          <a:p>
            <a:r>
              <a:rPr lang="fr-CH" err="1"/>
              <a:t>AutoML</a:t>
            </a:r>
            <a:r>
              <a:rPr lang="fr-CH"/>
              <a:t> / Custom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6C9A61-6904-F0DA-70C2-516513AC146A}"/>
              </a:ext>
            </a:extLst>
          </p:cNvPr>
          <p:cNvSpPr txBox="1"/>
          <p:nvPr/>
        </p:nvSpPr>
        <p:spPr>
          <a:xfrm>
            <a:off x="428203" y="5134591"/>
            <a:ext cx="2703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/>
              <a:t>Servir :</a:t>
            </a:r>
          </a:p>
          <a:p>
            <a:pPr algn="r"/>
            <a:r>
              <a:rPr lang="fr-FR"/>
              <a:t>Endpoint / batch</a:t>
            </a:r>
            <a:endParaRPr lang="fr-CH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976F279-3429-35F8-4BB0-582E55DB4370}"/>
              </a:ext>
            </a:extLst>
          </p:cNvPr>
          <p:cNvSpPr txBox="1"/>
          <p:nvPr/>
        </p:nvSpPr>
        <p:spPr>
          <a:xfrm>
            <a:off x="7911610" y="5134591"/>
            <a:ext cx="347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/>
              <a:t>Évaluer :</a:t>
            </a:r>
          </a:p>
          <a:p>
            <a:r>
              <a:rPr lang="fr-FR"/>
              <a:t>Métrique / XAI</a:t>
            </a:r>
            <a:endParaRPr lang="fr-CH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203A4D3-A9BD-BB15-23F3-768D2D1F4DDE}"/>
              </a:ext>
            </a:extLst>
          </p:cNvPr>
          <p:cNvSpPr txBox="1"/>
          <p:nvPr/>
        </p:nvSpPr>
        <p:spPr>
          <a:xfrm>
            <a:off x="2685378" y="-53379"/>
            <a:ext cx="5863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Data :</a:t>
            </a:r>
          </a:p>
          <a:p>
            <a:pPr algn="ctr"/>
            <a:r>
              <a:rPr lang="fr-CH" err="1"/>
              <a:t>BigQuery</a:t>
            </a:r>
            <a:r>
              <a:rPr lang="fr-CH"/>
              <a:t> / GCS</a:t>
            </a:r>
          </a:p>
        </p:txBody>
      </p:sp>
      <p:pic>
        <p:nvPicPr>
          <p:cNvPr id="28" name="Picture 4" descr="Vertex AI Google Artificial Intelligence Services">
            <a:extLst>
              <a:ext uri="{FF2B5EF4-FFF2-40B4-BE49-F238E27FC236}">
                <a16:creationId xmlns:a16="http://schemas.microsoft.com/office/drawing/2014/main" id="{BA0FA989-DBE5-0392-FB3D-550A440EA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795" y="3351922"/>
            <a:ext cx="1937886" cy="11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F8969BB8-98B1-16FC-FD07-212BC22A4DC5}"/>
              </a:ext>
            </a:extLst>
          </p:cNvPr>
          <p:cNvSpPr txBox="1"/>
          <p:nvPr/>
        </p:nvSpPr>
        <p:spPr>
          <a:xfrm>
            <a:off x="4675106" y="4668253"/>
            <a:ext cx="188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/>
              <a:t>Cycle de vie</a:t>
            </a:r>
          </a:p>
        </p:txBody>
      </p:sp>
      <p:pic>
        <p:nvPicPr>
          <p:cNvPr id="36" name="Graphique 35" descr="Serveur contour">
            <a:extLst>
              <a:ext uri="{FF2B5EF4-FFF2-40B4-BE49-F238E27FC236}">
                <a16:creationId xmlns:a16="http://schemas.microsoft.com/office/drawing/2014/main" id="{2210F230-8D20-47AC-ECB9-E39362DF1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9329" y="837665"/>
            <a:ext cx="914400" cy="914400"/>
          </a:xfrm>
          <a:prstGeom prst="rect">
            <a:avLst/>
          </a:prstGeom>
        </p:spPr>
      </p:pic>
      <p:pic>
        <p:nvPicPr>
          <p:cNvPr id="38" name="Graphique 37" descr="Culturiste contour">
            <a:extLst>
              <a:ext uri="{FF2B5EF4-FFF2-40B4-BE49-F238E27FC236}">
                <a16:creationId xmlns:a16="http://schemas.microsoft.com/office/drawing/2014/main" id="{C3A930F4-5D7A-4B44-E9A3-4823ECFC5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3000" y="2565400"/>
            <a:ext cx="914400" cy="914400"/>
          </a:xfrm>
          <a:prstGeom prst="rect">
            <a:avLst/>
          </a:prstGeom>
        </p:spPr>
      </p:pic>
      <p:pic>
        <p:nvPicPr>
          <p:cNvPr id="40" name="Graphique 39" descr="Presse-papiers mixte contour">
            <a:extLst>
              <a:ext uri="{FF2B5EF4-FFF2-40B4-BE49-F238E27FC236}">
                <a16:creationId xmlns:a16="http://schemas.microsoft.com/office/drawing/2014/main" id="{62B22A1B-6D34-6232-F2D7-738875C5F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5100" y="5422900"/>
            <a:ext cx="914400" cy="914400"/>
          </a:xfrm>
          <a:prstGeom prst="rect">
            <a:avLst/>
          </a:prstGeom>
        </p:spPr>
      </p:pic>
      <p:pic>
        <p:nvPicPr>
          <p:cNvPr id="42" name="Graphique 41" descr="Serveur contour">
            <a:extLst>
              <a:ext uri="{FF2B5EF4-FFF2-40B4-BE49-F238E27FC236}">
                <a16:creationId xmlns:a16="http://schemas.microsoft.com/office/drawing/2014/main" id="{ACB54899-70B4-2346-63F1-8AF5F36B4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200" y="5435600"/>
            <a:ext cx="914400" cy="914400"/>
          </a:xfrm>
          <a:prstGeom prst="rect">
            <a:avLst/>
          </a:prstGeom>
        </p:spPr>
      </p:pic>
      <p:pic>
        <p:nvPicPr>
          <p:cNvPr id="44" name="Graphique 43" descr="Volant contour">
            <a:extLst>
              <a:ext uri="{FF2B5EF4-FFF2-40B4-BE49-F238E27FC236}">
                <a16:creationId xmlns:a16="http://schemas.microsoft.com/office/drawing/2014/main" id="{7E352545-69BC-F1A2-0801-E578E056E5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04452" y="2569903"/>
            <a:ext cx="914400" cy="914400"/>
          </a:xfrm>
          <a:prstGeom prst="rect">
            <a:avLst/>
          </a:prstGeom>
        </p:spPr>
      </p:pic>
      <p:cxnSp>
        <p:nvCxnSpPr>
          <p:cNvPr id="5" name="Connecteur : en arc 4">
            <a:extLst>
              <a:ext uri="{FF2B5EF4-FFF2-40B4-BE49-F238E27FC236}">
                <a16:creationId xmlns:a16="http://schemas.microsoft.com/office/drawing/2014/main" id="{5B55CD71-60F1-175B-31D1-44D5B0DBDE28}"/>
              </a:ext>
            </a:extLst>
          </p:cNvPr>
          <p:cNvCxnSpPr>
            <a:stCxn id="8" idx="7"/>
            <a:endCxn id="3" idx="1"/>
          </p:cNvCxnSpPr>
          <p:nvPr/>
        </p:nvCxnSpPr>
        <p:spPr>
          <a:xfrm rot="5400000" flipH="1" flipV="1">
            <a:off x="5617335" y="808921"/>
            <a:ext cx="12700" cy="3176197"/>
          </a:xfrm>
          <a:prstGeom prst="curvedConnector3">
            <a:avLst>
              <a:gd name="adj1" fmla="val -3690339"/>
            </a:avLst>
          </a:prstGeom>
          <a:ln>
            <a:prstDash val="dash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7C66313-E617-4585-7086-7D2D2A0CBE5F}"/>
              </a:ext>
            </a:extLst>
          </p:cNvPr>
          <p:cNvSpPr txBox="1"/>
          <p:nvPr/>
        </p:nvSpPr>
        <p:spPr>
          <a:xfrm>
            <a:off x="4529523" y="2904712"/>
            <a:ext cx="2062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/>
              <a:t>réentrainement</a:t>
            </a:r>
            <a:endParaRPr lang="fr-CH" b="1"/>
          </a:p>
        </p:txBody>
      </p:sp>
      <p:pic>
        <p:nvPicPr>
          <p:cNvPr id="17" name="Graphique 16" descr="Intelligence artificielle contour">
            <a:extLst>
              <a:ext uri="{FF2B5EF4-FFF2-40B4-BE49-F238E27FC236}">
                <a16:creationId xmlns:a16="http://schemas.microsoft.com/office/drawing/2014/main" id="{1C2AA62F-9B0D-B798-E16B-05EBCC445B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5030" y="151248"/>
            <a:ext cx="914400" cy="9144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9D560A3-68F1-5073-E421-E8B4DE7E1844}"/>
              </a:ext>
            </a:extLst>
          </p:cNvPr>
          <p:cNvSpPr txBox="1"/>
          <p:nvPr/>
        </p:nvSpPr>
        <p:spPr>
          <a:xfrm>
            <a:off x="8419671" y="1091053"/>
            <a:ext cx="3605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/>
              <a:t>Depuis 2023 GenAI : </a:t>
            </a:r>
          </a:p>
          <a:p>
            <a:pPr algn="ctr"/>
            <a:r>
              <a:rPr lang="fr-CH"/>
              <a:t>Gemini, Model </a:t>
            </a:r>
            <a:r>
              <a:rPr lang="fr-CH" err="1"/>
              <a:t>garden</a:t>
            </a:r>
            <a:r>
              <a:rPr lang="fr-CH"/>
              <a:t>, Vertex AI studio, RAG, Agent </a:t>
            </a:r>
            <a:r>
              <a:rPr lang="fr-CH" err="1"/>
              <a:t>builder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0440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41BD-0822-5EE9-592F-D98E0DDD0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C36EBE7-124A-66DE-571E-40506BC214FC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D2CB10EE-519E-A0B7-76D9-16ED05BC8413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4B55EE27-A595-1D25-6719-806FF3FA3D28}"/>
              </a:ext>
            </a:extLst>
          </p:cNvPr>
          <p:cNvSpPr/>
          <p:nvPr/>
        </p:nvSpPr>
        <p:spPr>
          <a:xfrm rot="6730320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BE16138-8E05-BBA0-9248-1979866B7C1F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4EDC04F-61B3-B849-0B1F-1D86DF3DF34D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DD06A94-7743-93EE-30D1-B23DFF74DA08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01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27A87A3-24BD-5C50-13D1-852D7266846B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Briques et intérêt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2" name="Graphique 41" descr="Mur de briques en construction avec un remplissage uni">
            <a:extLst>
              <a:ext uri="{FF2B5EF4-FFF2-40B4-BE49-F238E27FC236}">
                <a16:creationId xmlns:a16="http://schemas.microsoft.com/office/drawing/2014/main" id="{7A9D5787-CE00-6C5E-81BA-002B66C2A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100" y="471292"/>
            <a:ext cx="1158590" cy="1158590"/>
          </a:xfrm>
          <a:prstGeom prst="rect">
            <a:avLst/>
          </a:prstGeom>
        </p:spPr>
      </p:pic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AED8469B-2052-DC9B-C958-85C702143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116FA464-CDD7-0D50-A7B8-4DC007FBC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CDEE2409-EF4A-8F53-96A6-C325DFFB5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79D98175-7599-3D47-39C2-6F888CF27D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graphicFrame>
        <p:nvGraphicFramePr>
          <p:cNvPr id="50" name="Tableau 49">
            <a:extLst>
              <a:ext uri="{FF2B5EF4-FFF2-40B4-BE49-F238E27FC236}">
                <a16:creationId xmlns:a16="http://schemas.microsoft.com/office/drawing/2014/main" id="{9F418F59-1B0A-F2C7-F8C1-31D18730D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463934"/>
              </p:ext>
            </p:extLst>
          </p:nvPr>
        </p:nvGraphicFramePr>
        <p:xfrm>
          <a:off x="5290665" y="1930847"/>
          <a:ext cx="5758336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06229">
                  <a:extLst>
                    <a:ext uri="{9D8B030D-6E8A-4147-A177-3AD203B41FA5}">
                      <a16:colId xmlns:a16="http://schemas.microsoft.com/office/drawing/2014/main" val="1729581482"/>
                    </a:ext>
                  </a:extLst>
                </a:gridCol>
                <a:gridCol w="3752107">
                  <a:extLst>
                    <a:ext uri="{9D8B030D-6E8A-4147-A177-3AD203B41FA5}">
                      <a16:colId xmlns:a16="http://schemas.microsoft.com/office/drawing/2014/main" val="885281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 b="1" err="1"/>
                        <a:t>AutoML</a:t>
                      </a:r>
                      <a:r>
                        <a:rPr lang="fr-CH" b="1"/>
                        <a:t> (</a:t>
                      </a:r>
                      <a:r>
                        <a:rPr lang="fr-CH" b="1" err="1"/>
                        <a:t>tabular</a:t>
                      </a:r>
                      <a:r>
                        <a:rPr lang="fr-CH" b="1"/>
                        <a:t>, image, texte)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Modèle sans code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18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b="1" err="1"/>
                        <a:t>Prediction</a:t>
                      </a:r>
                      <a:r>
                        <a:rPr lang="fr-CH" b="1"/>
                        <a:t> et </a:t>
                      </a:r>
                      <a:r>
                        <a:rPr lang="fr-CH" b="1" err="1"/>
                        <a:t>enpoints</a:t>
                      </a:r>
                      <a:endParaRPr lang="fr-CH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Servir : online (REST) ou batch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40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b="1"/>
                        <a:t>Model Garden + </a:t>
                      </a:r>
                      <a:r>
                        <a:rPr lang="fr-CH" b="1" err="1"/>
                        <a:t>gemini</a:t>
                      </a:r>
                      <a:endParaRPr lang="fr-CH" b="1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Catalogue + API GenAI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12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b="1"/>
                        <a:t>Custom </a:t>
                      </a:r>
                    </a:p>
                    <a:p>
                      <a:r>
                        <a:rPr lang="fr-CH" b="1"/>
                        <a:t>training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Notre code (TF/</a:t>
                      </a:r>
                      <a:r>
                        <a:rPr lang="fr-CH" err="1"/>
                        <a:t>PyTorch</a:t>
                      </a:r>
                      <a:r>
                        <a:rPr lang="fr-CH"/>
                        <a:t>/</a:t>
                      </a:r>
                      <a:r>
                        <a:rPr lang="fr-CH" err="1"/>
                        <a:t>sklearn</a:t>
                      </a:r>
                      <a:r>
                        <a:rPr lang="fr-CH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06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b="1"/>
                        <a:t>Model </a:t>
                      </a:r>
                      <a:r>
                        <a:rPr lang="fr-CH" b="1" err="1"/>
                        <a:t>registery</a:t>
                      </a:r>
                      <a:r>
                        <a:rPr lang="fr-CH" b="1"/>
                        <a:t> / monitoring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/>
                        <a:t>Versionner, détecter la dérive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781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b="1"/>
                        <a:t>Pipeline / </a:t>
                      </a:r>
                      <a:r>
                        <a:rPr lang="fr-CH" b="1" err="1"/>
                        <a:t>feature</a:t>
                      </a:r>
                      <a:r>
                        <a:rPr lang="fr-CH" b="1"/>
                        <a:t> store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H" err="1"/>
                        <a:t>MLOps</a:t>
                      </a:r>
                      <a:r>
                        <a:rPr lang="fr-CH"/>
                        <a:t> avancés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023749"/>
                  </a:ext>
                </a:extLst>
              </a:tr>
            </a:tbl>
          </a:graphicData>
        </a:graphic>
      </p:graphicFrame>
      <p:pic>
        <p:nvPicPr>
          <p:cNvPr id="52" name="Graphique 51" descr="Étoile avec un remplissage uni">
            <a:extLst>
              <a:ext uri="{FF2B5EF4-FFF2-40B4-BE49-F238E27FC236}">
                <a16:creationId xmlns:a16="http://schemas.microsoft.com/office/drawing/2014/main" id="{1F8FFC11-B90A-E60A-791B-F73C723BD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2058141"/>
            <a:ext cx="436261" cy="436261"/>
          </a:xfrm>
          <a:prstGeom prst="rect">
            <a:avLst/>
          </a:prstGeom>
        </p:spPr>
      </p:pic>
      <p:pic>
        <p:nvPicPr>
          <p:cNvPr id="53" name="Graphique 52" descr="Étoile avec un remplissage uni">
            <a:extLst>
              <a:ext uri="{FF2B5EF4-FFF2-40B4-BE49-F238E27FC236}">
                <a16:creationId xmlns:a16="http://schemas.microsoft.com/office/drawing/2014/main" id="{4567ED3C-1831-B5D6-64BD-9E7D10C43D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5094" y="2058141"/>
            <a:ext cx="436261" cy="436261"/>
          </a:xfrm>
          <a:prstGeom prst="rect">
            <a:avLst/>
          </a:prstGeom>
        </p:spPr>
      </p:pic>
      <p:pic>
        <p:nvPicPr>
          <p:cNvPr id="54" name="Graphique 53" descr="Étoile avec un remplissage uni">
            <a:extLst>
              <a:ext uri="{FF2B5EF4-FFF2-40B4-BE49-F238E27FC236}">
                <a16:creationId xmlns:a16="http://schemas.microsoft.com/office/drawing/2014/main" id="{6498F370-E4B5-8258-7925-79824655D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1355" y="2058141"/>
            <a:ext cx="436261" cy="436261"/>
          </a:xfrm>
          <a:prstGeom prst="rect">
            <a:avLst/>
          </a:prstGeom>
        </p:spPr>
      </p:pic>
      <p:pic>
        <p:nvPicPr>
          <p:cNvPr id="55" name="Graphique 54" descr="Étoile avec un remplissage uni">
            <a:extLst>
              <a:ext uri="{FF2B5EF4-FFF2-40B4-BE49-F238E27FC236}">
                <a16:creationId xmlns:a16="http://schemas.microsoft.com/office/drawing/2014/main" id="{A1070695-66F9-E8D4-0E6B-065E4CBF2F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2687671"/>
            <a:ext cx="436261" cy="436261"/>
          </a:xfrm>
          <a:prstGeom prst="rect">
            <a:avLst/>
          </a:prstGeom>
        </p:spPr>
      </p:pic>
      <p:pic>
        <p:nvPicPr>
          <p:cNvPr id="56" name="Graphique 55" descr="Étoile avec un remplissage uni">
            <a:extLst>
              <a:ext uri="{FF2B5EF4-FFF2-40B4-BE49-F238E27FC236}">
                <a16:creationId xmlns:a16="http://schemas.microsoft.com/office/drawing/2014/main" id="{D90A1352-B1A1-7140-9F8C-9ABC5ADF77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5094" y="2687671"/>
            <a:ext cx="436261" cy="436261"/>
          </a:xfrm>
          <a:prstGeom prst="rect">
            <a:avLst/>
          </a:prstGeom>
        </p:spPr>
      </p:pic>
      <p:pic>
        <p:nvPicPr>
          <p:cNvPr id="57" name="Graphique 56" descr="Étoile avec un remplissage uni">
            <a:extLst>
              <a:ext uri="{FF2B5EF4-FFF2-40B4-BE49-F238E27FC236}">
                <a16:creationId xmlns:a16="http://schemas.microsoft.com/office/drawing/2014/main" id="{4723E91B-506D-F726-F424-6DDD2E881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1355" y="2687671"/>
            <a:ext cx="436261" cy="436261"/>
          </a:xfrm>
          <a:prstGeom prst="rect">
            <a:avLst/>
          </a:prstGeom>
        </p:spPr>
      </p:pic>
      <p:pic>
        <p:nvPicPr>
          <p:cNvPr id="58" name="Graphique 57" descr="Étoile avec un remplissage uni">
            <a:extLst>
              <a:ext uri="{FF2B5EF4-FFF2-40B4-BE49-F238E27FC236}">
                <a16:creationId xmlns:a16="http://schemas.microsoft.com/office/drawing/2014/main" id="{C65584FE-D2D8-4784-6150-50E0D8715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3317201"/>
            <a:ext cx="436261" cy="436261"/>
          </a:xfrm>
          <a:prstGeom prst="rect">
            <a:avLst/>
          </a:prstGeom>
        </p:spPr>
      </p:pic>
      <p:pic>
        <p:nvPicPr>
          <p:cNvPr id="59" name="Graphique 58" descr="Étoile avec un remplissage uni">
            <a:extLst>
              <a:ext uri="{FF2B5EF4-FFF2-40B4-BE49-F238E27FC236}">
                <a16:creationId xmlns:a16="http://schemas.microsoft.com/office/drawing/2014/main" id="{61D64CBE-28C9-E0AE-4E51-0700099ECE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5094" y="3317201"/>
            <a:ext cx="436261" cy="436261"/>
          </a:xfrm>
          <a:prstGeom prst="rect">
            <a:avLst/>
          </a:prstGeom>
        </p:spPr>
      </p:pic>
      <p:pic>
        <p:nvPicPr>
          <p:cNvPr id="60" name="Graphique 59" descr="Étoile avec un remplissage uni">
            <a:extLst>
              <a:ext uri="{FF2B5EF4-FFF2-40B4-BE49-F238E27FC236}">
                <a16:creationId xmlns:a16="http://schemas.microsoft.com/office/drawing/2014/main" id="{0AEF4655-0560-312C-6A0C-3687D6FDE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1355" y="3317201"/>
            <a:ext cx="436261" cy="436261"/>
          </a:xfrm>
          <a:prstGeom prst="rect">
            <a:avLst/>
          </a:prstGeom>
        </p:spPr>
      </p:pic>
      <p:pic>
        <p:nvPicPr>
          <p:cNvPr id="61" name="Graphique 60" descr="Étoile avec un remplissage uni">
            <a:extLst>
              <a:ext uri="{FF2B5EF4-FFF2-40B4-BE49-F238E27FC236}">
                <a16:creationId xmlns:a16="http://schemas.microsoft.com/office/drawing/2014/main" id="{EE7EF2C0-3D00-812E-891C-2F51F83435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3946731"/>
            <a:ext cx="436261" cy="436261"/>
          </a:xfrm>
          <a:prstGeom prst="rect">
            <a:avLst/>
          </a:prstGeom>
        </p:spPr>
      </p:pic>
      <p:pic>
        <p:nvPicPr>
          <p:cNvPr id="62" name="Graphique 61" descr="Étoile avec un remplissage uni">
            <a:extLst>
              <a:ext uri="{FF2B5EF4-FFF2-40B4-BE49-F238E27FC236}">
                <a16:creationId xmlns:a16="http://schemas.microsoft.com/office/drawing/2014/main" id="{21D9BBCB-A919-B90F-6DF4-B89BD7EB1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5094" y="3946731"/>
            <a:ext cx="436261" cy="436261"/>
          </a:xfrm>
          <a:prstGeom prst="rect">
            <a:avLst/>
          </a:prstGeom>
        </p:spPr>
      </p:pic>
      <p:pic>
        <p:nvPicPr>
          <p:cNvPr id="64" name="Graphique 63" descr="Étoile avec un remplissage uni">
            <a:extLst>
              <a:ext uri="{FF2B5EF4-FFF2-40B4-BE49-F238E27FC236}">
                <a16:creationId xmlns:a16="http://schemas.microsoft.com/office/drawing/2014/main" id="{A588ACBC-DE6F-7C8E-1D3C-73A0C95B3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4576261"/>
            <a:ext cx="436261" cy="436261"/>
          </a:xfrm>
          <a:prstGeom prst="rect">
            <a:avLst/>
          </a:prstGeom>
        </p:spPr>
      </p:pic>
      <p:pic>
        <p:nvPicPr>
          <p:cNvPr id="65" name="Graphique 64" descr="Étoile avec un remplissage uni">
            <a:extLst>
              <a:ext uri="{FF2B5EF4-FFF2-40B4-BE49-F238E27FC236}">
                <a16:creationId xmlns:a16="http://schemas.microsoft.com/office/drawing/2014/main" id="{B2FE9CBB-0574-D341-11F9-0D6ACE6BE1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5094" y="4576261"/>
            <a:ext cx="436261" cy="436261"/>
          </a:xfrm>
          <a:prstGeom prst="rect">
            <a:avLst/>
          </a:prstGeom>
        </p:spPr>
      </p:pic>
      <p:pic>
        <p:nvPicPr>
          <p:cNvPr id="67" name="Graphique 66" descr="Étoile avec un remplissage uni">
            <a:extLst>
              <a:ext uri="{FF2B5EF4-FFF2-40B4-BE49-F238E27FC236}">
                <a16:creationId xmlns:a16="http://schemas.microsoft.com/office/drawing/2014/main" id="{75376838-D548-DE7D-B326-1AEC83C07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58833" y="5205791"/>
            <a:ext cx="436261" cy="43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51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C72E-F696-23D2-B3BF-FE05B307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FCCAE3C-2051-EECF-4286-0C2B34E418FC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6FBCD9B3-75A9-1B2E-A537-823E3E8669BF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E170E241-2DEA-3D4F-BF77-3930939E1E86}"/>
              </a:ext>
            </a:extLst>
          </p:cNvPr>
          <p:cNvSpPr/>
          <p:nvPr/>
        </p:nvSpPr>
        <p:spPr>
          <a:xfrm rot="8791884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6A47835-4178-E825-E913-BC1729F65401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F73B666-A11B-A4AA-58F1-9C35F399308A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DB12641-5614-D474-38DA-3CC619FC11B4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02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1810573-53C8-7F69-C529-D0C8FB855C8D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Intégration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2" name="Graphique 41" descr="Mur de briques en construction avec un remplissage uni">
            <a:extLst>
              <a:ext uri="{FF2B5EF4-FFF2-40B4-BE49-F238E27FC236}">
                <a16:creationId xmlns:a16="http://schemas.microsoft.com/office/drawing/2014/main" id="{A25FBD81-C1A0-AEF1-DA4E-EBF0F4F0F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67D6884F-398E-9C37-C3F9-4DC627E800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3919" y="1544678"/>
            <a:ext cx="1278370" cy="127837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F8C894BA-EC68-6893-BC73-F9B68739E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27BA6A61-9307-3DD1-7ACE-49028B868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2CD0C83D-7C70-7470-34E5-D555D0540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Picture 4" descr="Vertex AI Google Artificial Intelligence Services">
            <a:extLst>
              <a:ext uri="{FF2B5EF4-FFF2-40B4-BE49-F238E27FC236}">
                <a16:creationId xmlns:a16="http://schemas.microsoft.com/office/drawing/2014/main" id="{ED597654-BC40-7D16-8EDA-81335017A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183" y="3427007"/>
            <a:ext cx="1858974" cy="108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8892694-1BA6-C23A-9C02-631337CABF67}"/>
              </a:ext>
            </a:extLst>
          </p:cNvPr>
          <p:cNvSpPr/>
          <p:nvPr/>
        </p:nvSpPr>
        <p:spPr>
          <a:xfrm>
            <a:off x="5467150" y="3029529"/>
            <a:ext cx="1665170" cy="1879360"/>
          </a:xfrm>
          <a:prstGeom prst="roundRect">
            <a:avLst/>
          </a:prstGeom>
          <a:noFill/>
          <a:ln>
            <a:solidFill>
              <a:srgbClr val="EC4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>
                <a:solidFill>
                  <a:schemeClr val="tx1"/>
                </a:solidFill>
              </a:rPr>
              <a:t>Entrée</a:t>
            </a:r>
          </a:p>
          <a:p>
            <a:endParaRPr lang="fr-CH" sz="1200">
              <a:solidFill>
                <a:schemeClr val="tx1"/>
              </a:solidFill>
            </a:endParaRPr>
          </a:p>
          <a:p>
            <a:r>
              <a:rPr lang="fr-CH" sz="1200">
                <a:solidFill>
                  <a:schemeClr val="tx1"/>
                </a:solidFill>
              </a:rPr>
              <a:t>CSV/Parquet (cloud </a:t>
            </a:r>
            <a:r>
              <a:rPr lang="fr-CH" sz="1200" err="1">
                <a:solidFill>
                  <a:schemeClr val="tx1"/>
                </a:solidFill>
              </a:rPr>
              <a:t>storage</a:t>
            </a:r>
            <a:r>
              <a:rPr lang="fr-CH" sz="1200">
                <a:solidFill>
                  <a:schemeClr val="tx1"/>
                </a:solidFill>
              </a:rPr>
              <a:t>)</a:t>
            </a:r>
          </a:p>
          <a:p>
            <a:r>
              <a:rPr lang="fr-CH" sz="1400">
                <a:solidFill>
                  <a:schemeClr val="tx1"/>
                </a:solidFill>
              </a:rPr>
              <a:t>Tables </a:t>
            </a:r>
            <a:r>
              <a:rPr lang="fr-CH" sz="1400" err="1">
                <a:solidFill>
                  <a:schemeClr val="tx1"/>
                </a:solidFill>
              </a:rPr>
              <a:t>BigQuery</a:t>
            </a:r>
            <a:endParaRPr lang="fr-CH" sz="1400">
              <a:solidFill>
                <a:schemeClr val="tx1"/>
              </a:solidFill>
            </a:endParaRPr>
          </a:p>
          <a:p>
            <a:r>
              <a:rPr lang="fr-CH" sz="1400">
                <a:solidFill>
                  <a:schemeClr val="tx1"/>
                </a:solidFill>
              </a:rPr>
              <a:t>Images, texte, vidéos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2B035CC-026A-B66D-4641-F98A7BE3911C}"/>
              </a:ext>
            </a:extLst>
          </p:cNvPr>
          <p:cNvSpPr/>
          <p:nvPr/>
        </p:nvSpPr>
        <p:spPr>
          <a:xfrm>
            <a:off x="10251270" y="3029529"/>
            <a:ext cx="1666800" cy="1879360"/>
          </a:xfrm>
          <a:prstGeom prst="roundRect">
            <a:avLst/>
          </a:prstGeom>
          <a:noFill/>
          <a:ln>
            <a:solidFill>
              <a:srgbClr val="EC4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>
                <a:solidFill>
                  <a:schemeClr val="tx1"/>
                </a:solidFill>
              </a:rPr>
              <a:t>Sortie</a:t>
            </a:r>
          </a:p>
          <a:p>
            <a:endParaRPr lang="fr-CH" sz="1200">
              <a:solidFill>
                <a:schemeClr val="tx1"/>
              </a:solidFill>
            </a:endParaRPr>
          </a:p>
          <a:p>
            <a:r>
              <a:rPr lang="fr-CH" sz="1200" err="1">
                <a:solidFill>
                  <a:schemeClr val="tx1"/>
                </a:solidFill>
              </a:rPr>
              <a:t>Enpoint</a:t>
            </a:r>
            <a:r>
              <a:rPr lang="fr-CH" sz="1200">
                <a:solidFill>
                  <a:schemeClr val="tx1"/>
                </a:solidFill>
              </a:rPr>
              <a:t> REST (temps réel)</a:t>
            </a:r>
            <a:endParaRPr lang="fr-CH" sz="1400">
              <a:solidFill>
                <a:schemeClr val="tx1"/>
              </a:solidFill>
            </a:endParaRPr>
          </a:p>
          <a:p>
            <a:r>
              <a:rPr lang="fr-CH" sz="1400">
                <a:solidFill>
                  <a:schemeClr val="tx1"/>
                </a:solidFill>
              </a:rPr>
              <a:t>Batch (fichiers GCS / </a:t>
            </a:r>
            <a:r>
              <a:rPr lang="fr-CH" sz="1400" err="1">
                <a:solidFill>
                  <a:schemeClr val="tx1"/>
                </a:solidFill>
              </a:rPr>
              <a:t>BigQuery</a:t>
            </a:r>
            <a:r>
              <a:rPr lang="fr-CH" sz="1400">
                <a:solidFill>
                  <a:schemeClr val="tx1"/>
                </a:solidFill>
              </a:rPr>
              <a:t>)</a:t>
            </a:r>
          </a:p>
          <a:p>
            <a:r>
              <a:rPr lang="fr-CH" sz="1400" err="1">
                <a:solidFill>
                  <a:schemeClr val="tx1"/>
                </a:solidFill>
              </a:rPr>
              <a:t>Metriques</a:t>
            </a:r>
            <a:r>
              <a:rPr lang="fr-CH" sz="1400">
                <a:solidFill>
                  <a:schemeClr val="tx1"/>
                </a:solidFill>
              </a:rPr>
              <a:t> ou attributions</a:t>
            </a:r>
            <a:endParaRPr lang="fr-CH" sz="1200">
              <a:solidFill>
                <a:schemeClr val="tx1"/>
              </a:solidFill>
            </a:endParaRP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6FA718C3-A304-A734-6654-733FC7D2FDB0}"/>
              </a:ext>
            </a:extLst>
          </p:cNvPr>
          <p:cNvSpPr/>
          <p:nvPr/>
        </p:nvSpPr>
        <p:spPr>
          <a:xfrm>
            <a:off x="7180445" y="3830024"/>
            <a:ext cx="629988" cy="410286"/>
          </a:xfrm>
          <a:prstGeom prst="rightArrow">
            <a:avLst/>
          </a:prstGeom>
          <a:solidFill>
            <a:srgbClr val="448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C91FAC7B-F276-6CCC-9474-3AEBF7758214}"/>
              </a:ext>
            </a:extLst>
          </p:cNvPr>
          <p:cNvSpPr/>
          <p:nvPr/>
        </p:nvSpPr>
        <p:spPr>
          <a:xfrm>
            <a:off x="9621282" y="3830024"/>
            <a:ext cx="629988" cy="410286"/>
          </a:xfrm>
          <a:prstGeom prst="rightArrow">
            <a:avLst/>
          </a:prstGeom>
          <a:solidFill>
            <a:srgbClr val="448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8F0648C-E342-99B1-959F-339937755E50}"/>
              </a:ext>
            </a:extLst>
          </p:cNvPr>
          <p:cNvSpPr/>
          <p:nvPr/>
        </p:nvSpPr>
        <p:spPr>
          <a:xfrm>
            <a:off x="7907987" y="1929514"/>
            <a:ext cx="1665170" cy="1549613"/>
          </a:xfrm>
          <a:prstGeom prst="roundRect">
            <a:avLst/>
          </a:prstGeom>
          <a:noFill/>
          <a:ln>
            <a:solidFill>
              <a:srgbClr val="EC4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CH" sz="1400">
              <a:solidFill>
                <a:schemeClr val="tx1"/>
              </a:solidFill>
            </a:endParaRPr>
          </a:p>
        </p:txBody>
      </p:sp>
      <p:pic>
        <p:nvPicPr>
          <p:cNvPr id="13" name="Graphique 12" descr="Terminal Cmd avec un remplissage uni">
            <a:extLst>
              <a:ext uri="{FF2B5EF4-FFF2-40B4-BE49-F238E27FC236}">
                <a16:creationId xmlns:a16="http://schemas.microsoft.com/office/drawing/2014/main" id="{B29BD395-94A3-79E1-136E-4D3125D0FE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2452" y="1977645"/>
            <a:ext cx="456240" cy="45624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6006247-9803-B8EC-8160-39C9E8758F79}"/>
              </a:ext>
            </a:extLst>
          </p:cNvPr>
          <p:cNvSpPr txBox="1"/>
          <p:nvPr/>
        </p:nvSpPr>
        <p:spPr>
          <a:xfrm>
            <a:off x="7906357" y="2550695"/>
            <a:ext cx="16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/>
              <a:t>SDK Python</a:t>
            </a:r>
          </a:p>
          <a:p>
            <a:r>
              <a:rPr lang="fr-CH" sz="1200"/>
              <a:t>CLI </a:t>
            </a:r>
            <a:r>
              <a:rPr lang="fr-CH" sz="1200" err="1"/>
              <a:t>glcoud</a:t>
            </a:r>
            <a:r>
              <a:rPr lang="fr-CH" sz="1200"/>
              <a:t>, API REST</a:t>
            </a:r>
          </a:p>
          <a:p>
            <a:r>
              <a:rPr lang="fr-CH" sz="1200"/>
              <a:t>Console WEB, </a:t>
            </a:r>
            <a:r>
              <a:rPr lang="fr-CH" sz="1200" err="1"/>
              <a:t>terraform</a:t>
            </a:r>
            <a:r>
              <a:rPr lang="fr-CH" sz="1200"/>
              <a:t> </a:t>
            </a:r>
          </a:p>
        </p:txBody>
      </p:sp>
      <p:pic>
        <p:nvPicPr>
          <p:cNvPr id="19" name="Graphique 18" descr="Caméra de sécurité contour">
            <a:extLst>
              <a:ext uri="{FF2B5EF4-FFF2-40B4-BE49-F238E27FC236}">
                <a16:creationId xmlns:a16="http://schemas.microsoft.com/office/drawing/2014/main" id="{BCBDEC36-C06E-7A30-691B-3D50D437D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12452" y="4384880"/>
            <a:ext cx="459192" cy="459192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361D9C8-CA51-0E4D-866B-BB5BA76E66B1}"/>
              </a:ext>
            </a:extLst>
          </p:cNvPr>
          <p:cNvSpPr/>
          <p:nvPr/>
        </p:nvSpPr>
        <p:spPr>
          <a:xfrm>
            <a:off x="7907987" y="4380434"/>
            <a:ext cx="1665170" cy="1549613"/>
          </a:xfrm>
          <a:prstGeom prst="roundRect">
            <a:avLst/>
          </a:prstGeom>
          <a:noFill/>
          <a:ln>
            <a:solidFill>
              <a:srgbClr val="EC4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CH" sz="1400">
              <a:solidFill>
                <a:schemeClr val="tx1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2ADEDA-9F41-362B-098A-472B732BD750}"/>
              </a:ext>
            </a:extLst>
          </p:cNvPr>
          <p:cNvSpPr txBox="1"/>
          <p:nvPr/>
        </p:nvSpPr>
        <p:spPr>
          <a:xfrm>
            <a:off x="7906357" y="4899864"/>
            <a:ext cx="166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/>
              <a:t>IAM, VPC, Data </a:t>
            </a:r>
            <a:r>
              <a:rPr lang="fr-CH" sz="1200" err="1"/>
              <a:t>Residency</a:t>
            </a:r>
            <a:r>
              <a:rPr lang="fr-CH" sz="1200"/>
              <a:t> (UE/CH)</a:t>
            </a:r>
          </a:p>
          <a:p>
            <a:r>
              <a:rPr lang="fr-CH" sz="1200"/>
              <a:t>Model </a:t>
            </a:r>
            <a:r>
              <a:rPr lang="fr-CH" sz="1200" err="1"/>
              <a:t>registery</a:t>
            </a:r>
            <a:r>
              <a:rPr lang="fr-CH" sz="1200"/>
              <a:t>, Audit logs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68BFDB-55EB-9FA3-873C-FFCF3644983F}"/>
              </a:ext>
            </a:extLst>
          </p:cNvPr>
          <p:cNvSpPr/>
          <p:nvPr/>
        </p:nvSpPr>
        <p:spPr>
          <a:xfrm>
            <a:off x="3840480" y="2057191"/>
            <a:ext cx="1422183" cy="2675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714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8C546-3CFC-0ECE-78C3-51641A30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7D88B89-62B6-9FC5-6C97-6CAC57069E00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535F3F7C-BA44-486C-1BBE-D51AB6FBE415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BC7A3BAC-F0C5-E90D-3A7A-EE7FCF95AF93}"/>
              </a:ext>
            </a:extLst>
          </p:cNvPr>
          <p:cNvSpPr/>
          <p:nvPr/>
        </p:nvSpPr>
        <p:spPr>
          <a:xfrm rot="10800000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51D03E7-4100-7523-8254-9C349BB68800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A1E64CA-5D87-8AB9-A3DF-0B8CE9B8C5DE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ADE8388-D6A3-6280-EA70-4B715B0C9F9B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03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D7C68AB-EBA1-992C-3FF2-3A34D933DBAB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PoC : prédiction de </a:t>
            </a:r>
            <a:r>
              <a:rPr lang="fr-FR" sz="2400" b="1" err="1">
                <a:solidFill>
                  <a:schemeClr val="bg1"/>
                </a:solidFill>
              </a:rPr>
              <a:t>churn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25D10BD9-0DE9-1673-1A98-457E4D71E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70DCA923-BDFE-131C-253F-AEA616232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7737" y="2711776"/>
            <a:ext cx="1445782" cy="144578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C4EF93D5-D1C6-E26E-FCB3-E91715B4E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4E73AFF4-BFCC-FD5F-3C4A-7363DA62AF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75B90CD9-B5E3-E979-0795-39B327A15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799DA5B4-987C-AC4D-22CB-6176EF6E28E1}"/>
              </a:ext>
            </a:extLst>
          </p:cNvPr>
          <p:cNvSpPr/>
          <p:nvPr/>
        </p:nvSpPr>
        <p:spPr>
          <a:xfrm>
            <a:off x="4370680" y="2276271"/>
            <a:ext cx="1664118" cy="1435849"/>
          </a:xfrm>
          <a:prstGeom prst="homePlate">
            <a:avLst/>
          </a:prstGeom>
          <a:solidFill>
            <a:srgbClr val="448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Données clients</a:t>
            </a:r>
          </a:p>
          <a:p>
            <a:pPr algn="ctr"/>
            <a:r>
              <a:rPr lang="fr-CH" sz="1200">
                <a:solidFill>
                  <a:schemeClr val="tx1"/>
                </a:solidFill>
              </a:rPr>
              <a:t>CSV / </a:t>
            </a:r>
            <a:r>
              <a:rPr lang="fr-CH" sz="1200" err="1">
                <a:solidFill>
                  <a:schemeClr val="tx1"/>
                </a:solidFill>
              </a:rPr>
              <a:t>BigQueries</a:t>
            </a:r>
            <a:endParaRPr lang="fr-CH" sz="1200">
              <a:solidFill>
                <a:schemeClr val="tx1"/>
              </a:solidFill>
            </a:endParaRP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CBD6C30B-4592-0DA9-10DE-A879235DB9C0}"/>
              </a:ext>
            </a:extLst>
          </p:cNvPr>
          <p:cNvSpPr/>
          <p:nvPr/>
        </p:nvSpPr>
        <p:spPr>
          <a:xfrm>
            <a:off x="4268304" y="2276270"/>
            <a:ext cx="1664118" cy="1435849"/>
          </a:xfrm>
          <a:prstGeom prst="homePlate">
            <a:avLst/>
          </a:prstGeom>
          <a:solidFill>
            <a:srgbClr val="EC42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Vertex AI </a:t>
            </a:r>
            <a:r>
              <a:rPr lang="fr-CH" b="1" err="1">
                <a:solidFill>
                  <a:schemeClr val="tx1"/>
                </a:solidFill>
              </a:rPr>
              <a:t>Dataset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Tabulaire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4ADD7E23-4443-B060-1413-0AAA9AC1FA7A}"/>
              </a:ext>
            </a:extLst>
          </p:cNvPr>
          <p:cNvSpPr/>
          <p:nvPr/>
        </p:nvSpPr>
        <p:spPr>
          <a:xfrm>
            <a:off x="4165929" y="2276269"/>
            <a:ext cx="1664118" cy="1435849"/>
          </a:xfrm>
          <a:prstGeom prst="homePlate">
            <a:avLst/>
          </a:prstGeom>
          <a:solidFill>
            <a:srgbClr val="38AF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 err="1">
                <a:solidFill>
                  <a:schemeClr val="tx1"/>
                </a:solidFill>
              </a:rPr>
              <a:t>AutoML</a:t>
            </a:r>
            <a:r>
              <a:rPr lang="fr-CH" b="1">
                <a:solidFill>
                  <a:schemeClr val="tx1"/>
                </a:solidFill>
              </a:rPr>
              <a:t> </a:t>
            </a:r>
            <a:r>
              <a:rPr lang="fr-CH" b="1" err="1">
                <a:solidFill>
                  <a:schemeClr val="tx1"/>
                </a:solidFill>
              </a:rPr>
              <a:t>Tabular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Tabulaire</a:t>
            </a: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6BD614E7-7C23-5393-FE1D-E8DC5916DD4D}"/>
              </a:ext>
            </a:extLst>
          </p:cNvPr>
          <p:cNvSpPr/>
          <p:nvPr/>
        </p:nvSpPr>
        <p:spPr>
          <a:xfrm>
            <a:off x="4063554" y="2267380"/>
            <a:ext cx="1664118" cy="1435849"/>
          </a:xfrm>
          <a:prstGeom prst="homePlate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Model </a:t>
            </a:r>
            <a:r>
              <a:rPr lang="fr-CH" b="1" err="1">
                <a:solidFill>
                  <a:schemeClr val="tx1"/>
                </a:solidFill>
              </a:rPr>
              <a:t>registery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Modèle versionné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E26AB4-F41F-330E-D516-33248DDFC2F3}"/>
              </a:ext>
            </a:extLst>
          </p:cNvPr>
          <p:cNvSpPr/>
          <p:nvPr/>
        </p:nvSpPr>
        <p:spPr>
          <a:xfrm>
            <a:off x="3840480" y="2057191"/>
            <a:ext cx="1422183" cy="2675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Acquérir un nouveau client coût e 5x plus cher que d’en retenir un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4977A3C-557A-20A7-E959-1B548615E5FB}"/>
              </a:ext>
            </a:extLst>
          </p:cNvPr>
          <p:cNvSpPr txBox="1"/>
          <p:nvPr/>
        </p:nvSpPr>
        <p:spPr>
          <a:xfrm>
            <a:off x="6053121" y="2662138"/>
            <a:ext cx="5553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/>
              <a:t>Hypothèse</a:t>
            </a:r>
            <a:r>
              <a:rPr lang="fr-CH"/>
              <a:t> : Acquérir un nouveau client coût e 5x plus cher que d’en retenir un </a:t>
            </a:r>
          </a:p>
        </p:txBody>
      </p:sp>
      <p:pic>
        <p:nvPicPr>
          <p:cNvPr id="20" name="Graphique 19" descr="Mille contour">
            <a:extLst>
              <a:ext uri="{FF2B5EF4-FFF2-40B4-BE49-F238E27FC236}">
                <a16:creationId xmlns:a16="http://schemas.microsoft.com/office/drawing/2014/main" id="{79066CEB-CC1C-6C75-D614-8D0815E5A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2032" y="3492865"/>
            <a:ext cx="701714" cy="701714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6E2EA4E-C201-1BB9-B83C-414124549560}"/>
              </a:ext>
            </a:extLst>
          </p:cNvPr>
          <p:cNvSpPr txBox="1"/>
          <p:nvPr/>
        </p:nvSpPr>
        <p:spPr>
          <a:xfrm>
            <a:off x="6790666" y="3659056"/>
            <a:ext cx="4816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/>
              <a:t>Prédire qui risque de partir pour les retenir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95DCC6D-51BB-4B03-D609-D9EEE927290F}"/>
              </a:ext>
            </a:extLst>
          </p:cNvPr>
          <p:cNvSpPr txBox="1"/>
          <p:nvPr/>
        </p:nvSpPr>
        <p:spPr>
          <a:xfrm>
            <a:off x="6034798" y="4584672"/>
            <a:ext cx="5932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Pourquoi </a:t>
            </a:r>
            <a:r>
              <a:rPr lang="fr-CH" err="1"/>
              <a:t>AutoML</a:t>
            </a:r>
            <a:r>
              <a:rPr lang="fr-CH"/>
              <a:t> </a:t>
            </a:r>
            <a:r>
              <a:rPr lang="fr-CH" err="1"/>
              <a:t>Tabular</a:t>
            </a:r>
            <a:r>
              <a:rPr lang="fr-CH"/>
              <a:t> ?</a:t>
            </a:r>
          </a:p>
          <a:p>
            <a:pPr marL="285750" indent="-285750">
              <a:buFontTx/>
              <a:buChar char="-"/>
            </a:pPr>
            <a:r>
              <a:rPr lang="fr-CH"/>
              <a:t>CSV de clients </a:t>
            </a:r>
          </a:p>
          <a:p>
            <a:pPr marL="285750" indent="-285750">
              <a:buFontTx/>
              <a:buChar char="-"/>
            </a:pPr>
            <a:r>
              <a:rPr lang="fr-CH"/>
              <a:t>Pas besoin de coder un modèle</a:t>
            </a:r>
          </a:p>
          <a:p>
            <a:pPr marL="285750" indent="-285750">
              <a:buFontTx/>
              <a:buChar char="-"/>
            </a:pPr>
            <a:r>
              <a:rPr lang="fr-CH"/>
              <a:t>Livre un modèle + importance des </a:t>
            </a:r>
            <a:r>
              <a:rPr lang="fr-CH" err="1"/>
              <a:t>features</a:t>
            </a:r>
            <a:r>
              <a:rPr lang="fr-CH"/>
              <a:t> exploitables</a:t>
            </a:r>
          </a:p>
        </p:txBody>
      </p:sp>
    </p:spTree>
    <p:extLst>
      <p:ext uri="{BB962C8B-B14F-4D97-AF65-F5344CB8AC3E}">
        <p14:creationId xmlns:p14="http://schemas.microsoft.com/office/powerpoint/2010/main" val="135394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516D-07BF-40F9-F1F0-E69B5820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16DB9FB-26F9-E912-2C43-903CDD28DA3C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8D1A59DD-F3AB-B5E5-5CC0-CDE534310853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79A127C6-D8E0-915F-6175-ECF9B44FB18F}"/>
              </a:ext>
            </a:extLst>
          </p:cNvPr>
          <p:cNvSpPr/>
          <p:nvPr/>
        </p:nvSpPr>
        <p:spPr>
          <a:xfrm rot="10800000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4BCB0CB-F550-E7B9-CCFC-E202932DE7A4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8EB666E-02DC-D302-BFF1-89554A1A133B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CD9E951-F9E0-83E7-187C-9BD1DEC4BC06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03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B028F4C-DC8A-EFB8-3F2F-6FA7FCECF78A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PoC :  architecture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0A77A695-D396-E633-F96E-B6189B57D6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8DF7E270-DD32-29B9-8F85-4EC2ED236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7737" y="2711776"/>
            <a:ext cx="1445782" cy="144578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AFD049AC-8C15-697D-8629-3A6441919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ED9B7F62-08A4-F66F-E4EF-48AC668635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65751692-BA5B-3954-136D-91EB0268EF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sp>
        <p:nvSpPr>
          <p:cNvPr id="3" name="Flèche : pentagone 2">
            <a:extLst>
              <a:ext uri="{FF2B5EF4-FFF2-40B4-BE49-F238E27FC236}">
                <a16:creationId xmlns:a16="http://schemas.microsoft.com/office/drawing/2014/main" id="{694B643C-9289-AB25-5A26-483FB8FA0510}"/>
              </a:ext>
            </a:extLst>
          </p:cNvPr>
          <p:cNvSpPr/>
          <p:nvPr/>
        </p:nvSpPr>
        <p:spPr>
          <a:xfrm>
            <a:off x="5306454" y="2276271"/>
            <a:ext cx="1664118" cy="1435849"/>
          </a:xfrm>
          <a:prstGeom prst="homePlate">
            <a:avLst/>
          </a:prstGeom>
          <a:solidFill>
            <a:srgbClr val="448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Données clients</a:t>
            </a:r>
          </a:p>
          <a:p>
            <a:pPr algn="ctr"/>
            <a:r>
              <a:rPr lang="fr-CH" sz="1200">
                <a:solidFill>
                  <a:schemeClr val="tx1"/>
                </a:solidFill>
              </a:rPr>
              <a:t>CSV / </a:t>
            </a:r>
            <a:r>
              <a:rPr lang="fr-CH" sz="1200" err="1">
                <a:solidFill>
                  <a:schemeClr val="tx1"/>
                </a:solidFill>
              </a:rPr>
              <a:t>BigQueries</a:t>
            </a:r>
            <a:endParaRPr lang="fr-CH" sz="1200">
              <a:solidFill>
                <a:schemeClr val="tx1"/>
              </a:solidFill>
            </a:endParaRPr>
          </a:p>
        </p:txBody>
      </p: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A0D7DBC5-1C5A-21DF-0872-C7A0BE71EB54}"/>
              </a:ext>
            </a:extLst>
          </p:cNvPr>
          <p:cNvSpPr/>
          <p:nvPr/>
        </p:nvSpPr>
        <p:spPr>
          <a:xfrm>
            <a:off x="7037305" y="2276272"/>
            <a:ext cx="1664118" cy="1435849"/>
          </a:xfrm>
          <a:prstGeom prst="homePlate">
            <a:avLst/>
          </a:prstGeom>
          <a:solidFill>
            <a:srgbClr val="EC42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Vertex AI </a:t>
            </a:r>
            <a:r>
              <a:rPr lang="fr-CH" b="1" err="1">
                <a:solidFill>
                  <a:schemeClr val="tx1"/>
                </a:solidFill>
              </a:rPr>
              <a:t>Dataset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Tabulaire</a:t>
            </a: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7911FE4D-E454-03FC-1E44-E6D2C4F5B5CF}"/>
              </a:ext>
            </a:extLst>
          </p:cNvPr>
          <p:cNvSpPr/>
          <p:nvPr/>
        </p:nvSpPr>
        <p:spPr>
          <a:xfrm>
            <a:off x="8768156" y="2276272"/>
            <a:ext cx="1664118" cy="1435849"/>
          </a:xfrm>
          <a:prstGeom prst="homePlate">
            <a:avLst/>
          </a:prstGeom>
          <a:solidFill>
            <a:srgbClr val="38AF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 err="1">
                <a:solidFill>
                  <a:schemeClr val="tx1"/>
                </a:solidFill>
              </a:rPr>
              <a:t>AutoML</a:t>
            </a:r>
            <a:r>
              <a:rPr lang="fr-CH" b="1">
                <a:solidFill>
                  <a:schemeClr val="tx1"/>
                </a:solidFill>
              </a:rPr>
              <a:t> </a:t>
            </a:r>
            <a:r>
              <a:rPr lang="fr-CH" b="1" err="1">
                <a:solidFill>
                  <a:schemeClr val="tx1"/>
                </a:solidFill>
              </a:rPr>
              <a:t>Tabular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Tabulaire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41B04A78-4397-97DA-2FA9-0ADBD4DBDC13}"/>
              </a:ext>
            </a:extLst>
          </p:cNvPr>
          <p:cNvSpPr/>
          <p:nvPr/>
        </p:nvSpPr>
        <p:spPr>
          <a:xfrm>
            <a:off x="10499007" y="2276271"/>
            <a:ext cx="1664118" cy="1435849"/>
          </a:xfrm>
          <a:prstGeom prst="homePlate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Model </a:t>
            </a:r>
            <a:r>
              <a:rPr lang="fr-CH" b="1" err="1">
                <a:solidFill>
                  <a:schemeClr val="tx1"/>
                </a:solidFill>
              </a:rPr>
              <a:t>registery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Modèle versionné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74EB49A-D4FD-A693-7A38-FC970A97631A}"/>
              </a:ext>
            </a:extLst>
          </p:cNvPr>
          <p:cNvSpPr/>
          <p:nvPr/>
        </p:nvSpPr>
        <p:spPr>
          <a:xfrm>
            <a:off x="5587310" y="4157558"/>
            <a:ext cx="3057077" cy="1225685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b="1">
                <a:solidFill>
                  <a:schemeClr val="tx1"/>
                </a:solidFill>
              </a:rPr>
              <a:t>Prédiction</a:t>
            </a:r>
          </a:p>
          <a:p>
            <a:pPr algn="ctr"/>
            <a:r>
              <a:rPr lang="fr-CH" sz="1200">
                <a:solidFill>
                  <a:schemeClr val="tx1"/>
                </a:solidFill>
              </a:rPr>
              <a:t>Batch (mensuel) – économique</a:t>
            </a:r>
          </a:p>
          <a:p>
            <a:pPr algn="ctr"/>
            <a:r>
              <a:rPr lang="fr-CH" sz="1200">
                <a:solidFill>
                  <a:schemeClr val="tx1"/>
                </a:solidFill>
              </a:rPr>
              <a:t>Endpoint REST (temps réel)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FE29492-BDA2-EC4E-599F-9DA620ACDA15}"/>
              </a:ext>
            </a:extLst>
          </p:cNvPr>
          <p:cNvSpPr/>
          <p:nvPr/>
        </p:nvSpPr>
        <p:spPr>
          <a:xfrm>
            <a:off x="8970468" y="4157558"/>
            <a:ext cx="3057077" cy="1225685"/>
          </a:xfrm>
          <a:prstGeom prst="round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>
                <a:solidFill>
                  <a:schemeClr val="tx1"/>
                </a:solidFill>
              </a:rPr>
              <a:t>Liste des clients à risque</a:t>
            </a:r>
            <a:endParaRPr lang="fr-CH" b="1">
              <a:solidFill>
                <a:schemeClr val="tx1"/>
              </a:solidFill>
            </a:endParaRPr>
          </a:p>
          <a:p>
            <a:pPr algn="ctr"/>
            <a:r>
              <a:rPr lang="fr-CH" sz="1200">
                <a:solidFill>
                  <a:schemeClr val="tx1"/>
                </a:solidFill>
              </a:rPr>
              <a:t>Transmis à l’équipe CRM / Transmission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E85347-025B-10CF-7482-C116C41B9035}"/>
              </a:ext>
            </a:extLst>
          </p:cNvPr>
          <p:cNvSpPr/>
          <p:nvPr/>
        </p:nvSpPr>
        <p:spPr>
          <a:xfrm>
            <a:off x="3840480" y="2057191"/>
            <a:ext cx="1422183" cy="2675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278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21C7-29A2-6417-9D81-68129950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D0C2EBC-0C91-8E28-C641-7E16059BF15D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D939E2C8-48FE-C978-3C46-EBD386D12EAF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3F059A1D-B981-D45A-6BD7-D8C17F6C0427}"/>
              </a:ext>
            </a:extLst>
          </p:cNvPr>
          <p:cNvSpPr/>
          <p:nvPr/>
        </p:nvSpPr>
        <p:spPr>
          <a:xfrm rot="10800000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BCD22BE-E98E-A175-3836-A9EA2EB7C182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F157C3B-F1BB-6E89-FE9C-D584C27ED08C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744C4FE-7526-83E6-D361-7ECA2194694D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03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E01075E-C788-649B-589E-A7A9BB3C5CFB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PoC :  démonstration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32B7937E-B81A-47BC-AED2-D70BF4F2E8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A28D6D7A-33B1-A0A1-7684-34ED76C75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7737" y="2711776"/>
            <a:ext cx="1445782" cy="144578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75264FED-B9E8-BC60-41F8-B076FED59F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F9E5078C-7817-B916-F1FF-18325B830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785F96DF-6D9E-80BD-1A1A-5A6E2BB7F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08ADA443-5A6F-4AD4-9EFF-2592CA24ACF7}"/>
              </a:ext>
            </a:extLst>
          </p:cNvPr>
          <p:cNvGrpSpPr/>
          <p:nvPr/>
        </p:nvGrpSpPr>
        <p:grpSpPr>
          <a:xfrm>
            <a:off x="5619842" y="2003087"/>
            <a:ext cx="6202148" cy="3804326"/>
            <a:chOff x="1625600" y="952500"/>
            <a:chExt cx="9627670" cy="5905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7085BE-851F-C461-60C7-CA9ED4BCB6FA}"/>
                </a:ext>
              </a:extLst>
            </p:cNvPr>
            <p:cNvSpPr/>
            <p:nvPr/>
          </p:nvSpPr>
          <p:spPr>
            <a:xfrm>
              <a:off x="1625600" y="952500"/>
              <a:ext cx="1257300" cy="304800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64177EF-B6DE-F803-A0D3-219D0FCE86E9}"/>
                </a:ext>
              </a:extLst>
            </p:cNvPr>
            <p:cNvSpPr/>
            <p:nvPr/>
          </p:nvSpPr>
          <p:spPr>
            <a:xfrm>
              <a:off x="1625600" y="1372622"/>
              <a:ext cx="939800" cy="304800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314D2F-3D95-B3D3-A480-ED7610D2DA5C}"/>
                </a:ext>
              </a:extLst>
            </p:cNvPr>
            <p:cNvSpPr/>
            <p:nvPr/>
          </p:nvSpPr>
          <p:spPr>
            <a:xfrm>
              <a:off x="9995970" y="5488111"/>
              <a:ext cx="1257300" cy="304800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C71598-74D1-E559-0AF3-A11EEF67F343}"/>
                </a:ext>
              </a:extLst>
            </p:cNvPr>
            <p:cNvSpPr/>
            <p:nvPr/>
          </p:nvSpPr>
          <p:spPr>
            <a:xfrm>
              <a:off x="10313469" y="5860368"/>
              <a:ext cx="939801" cy="304800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169C5D-26FA-292A-AEB6-3C41B48BB721}"/>
                </a:ext>
              </a:extLst>
            </p:cNvPr>
            <p:cNvSpPr/>
            <p:nvPr/>
          </p:nvSpPr>
          <p:spPr>
            <a:xfrm>
              <a:off x="10313469" y="5115856"/>
              <a:ext cx="939801" cy="304800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452359EF-01B4-346D-6734-802B62B00390}"/>
                </a:ext>
              </a:extLst>
            </p:cNvPr>
            <p:cNvGrpSpPr/>
            <p:nvPr/>
          </p:nvGrpSpPr>
          <p:grpSpPr>
            <a:xfrm>
              <a:off x="2984500" y="3025749"/>
              <a:ext cx="720000" cy="1867261"/>
              <a:chOff x="2984500" y="3136900"/>
              <a:chExt cx="720000" cy="1867261"/>
            </a:xfrm>
          </p:grpSpPr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28EAEC21-0061-6E2F-F8CA-4FFFA343C8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4500" y="3136900"/>
                <a:ext cx="720000" cy="4445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CDE5B59E-7617-FD93-5D3F-2BC63B51EA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4500" y="4069581"/>
                <a:ext cx="72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>
                <a:extLst>
                  <a:ext uri="{FF2B5EF4-FFF2-40B4-BE49-F238E27FC236}">
                    <a16:creationId xmlns:a16="http://schemas.microsoft.com/office/drawing/2014/main" id="{A7AC5FDA-81C2-E9E3-3004-BAFB3F3D2F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4500" y="4557761"/>
                <a:ext cx="720000" cy="4464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EC450677-AF2F-2F1D-0BD1-79013BBB8CF7}"/>
                </a:ext>
              </a:extLst>
            </p:cNvPr>
            <p:cNvGrpSpPr/>
            <p:nvPr/>
          </p:nvGrpSpPr>
          <p:grpSpPr>
            <a:xfrm rot="10800000">
              <a:off x="8477250" y="3025749"/>
              <a:ext cx="720000" cy="1867261"/>
              <a:chOff x="2984500" y="3136900"/>
              <a:chExt cx="720000" cy="1867261"/>
            </a:xfrm>
          </p:grpSpPr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B9D26054-A661-A9FE-EBCA-9035CBB0EE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984500" y="3136900"/>
                <a:ext cx="720000" cy="4445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7164D509-6CAE-344E-8084-EBA3FE70E4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4500" y="4069581"/>
                <a:ext cx="720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12D1790B-437D-E82F-9A6D-81548AF29D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84500" y="4557761"/>
                <a:ext cx="720000" cy="4464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" name="Picture 4">
              <a:extLst>
                <a:ext uri="{FF2B5EF4-FFF2-40B4-BE49-F238E27FC236}">
                  <a16:creationId xmlns:a16="http://schemas.microsoft.com/office/drawing/2014/main" id="{D9B48174-844E-1CA3-31A3-FCD7E684C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7923" y="2889885"/>
              <a:ext cx="3683227" cy="2598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Graphique 22" descr="Écran avec un remplissage uni">
              <a:extLst>
                <a:ext uri="{FF2B5EF4-FFF2-40B4-BE49-F238E27FC236}">
                  <a16:creationId xmlns:a16="http://schemas.microsoft.com/office/drawing/2014/main" id="{522387DF-BB20-44B2-DFBF-907EAA9365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587750" y="1841500"/>
              <a:ext cx="5016500" cy="5016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649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E975-5D4A-CCC9-C4B5-CDF7656A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10F13AA-4AAD-5BED-7DCC-5494433587F4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9546F1F7-4A5E-D0D9-84A9-87B6DD40128C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A4CF4DA0-FA92-3FA6-A05A-707AA124ABA3}"/>
              </a:ext>
            </a:extLst>
          </p:cNvPr>
          <p:cNvSpPr/>
          <p:nvPr/>
        </p:nvSpPr>
        <p:spPr>
          <a:xfrm rot="12705084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4FD1154-2B4A-8DFC-9C70-7C9F9ADA5EC9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214F89B-E1A2-82FA-D1B4-229CA7BD2000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2CB34FD-4D46-5F41-B4C8-717EE8AE70E8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04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451B333-2CFD-3BAF-BB60-6E66A204FD02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Évaluation : bénéfices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686D67E6-3809-C72F-38E9-1A7FAA005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B0388CC5-67EF-602F-2B9D-F9DD1C656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F0775FAD-4393-FD77-5381-B79D106C8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9235" y="4066998"/>
            <a:ext cx="1369918" cy="1369918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26E7F70C-DABB-5961-CA01-1128729B4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2B396C15-C3FC-4EBE-7FAE-7E1E6AFEA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pic>
        <p:nvPicPr>
          <p:cNvPr id="10" name="Graphique 9" descr="Sablier 30% avec un remplissage uni">
            <a:extLst>
              <a:ext uri="{FF2B5EF4-FFF2-40B4-BE49-F238E27FC236}">
                <a16:creationId xmlns:a16="http://schemas.microsoft.com/office/drawing/2014/main" id="{EA07B799-9749-1D4E-606B-5ECC19227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17033" y="2017136"/>
            <a:ext cx="914400" cy="914400"/>
          </a:xfrm>
          <a:prstGeom prst="rect">
            <a:avLst/>
          </a:prstGeom>
        </p:spPr>
      </p:pic>
      <p:pic>
        <p:nvPicPr>
          <p:cNvPr id="12" name="Graphique 11" descr="Entrepôt avec un remplissage uni">
            <a:extLst>
              <a:ext uri="{FF2B5EF4-FFF2-40B4-BE49-F238E27FC236}">
                <a16:creationId xmlns:a16="http://schemas.microsoft.com/office/drawing/2014/main" id="{57816DB5-8215-A22B-968A-01173C84D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85775" y="2017136"/>
            <a:ext cx="914400" cy="914400"/>
          </a:xfrm>
          <a:prstGeom prst="rect">
            <a:avLst/>
          </a:prstGeom>
        </p:spPr>
      </p:pic>
      <p:pic>
        <p:nvPicPr>
          <p:cNvPr id="14" name="Graphique 13" descr="Vivats avec un remplissage uni">
            <a:extLst>
              <a:ext uri="{FF2B5EF4-FFF2-40B4-BE49-F238E27FC236}">
                <a16:creationId xmlns:a16="http://schemas.microsoft.com/office/drawing/2014/main" id="{7D8B0E82-299A-EDAA-DDBF-A00984B6BE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54517" y="2017136"/>
            <a:ext cx="914400" cy="914400"/>
          </a:xfrm>
          <a:prstGeom prst="rect">
            <a:avLst/>
          </a:prstGeom>
        </p:spPr>
      </p:pic>
      <p:pic>
        <p:nvPicPr>
          <p:cNvPr id="16" name="Graphique 15" descr="Informations avec un remplissage uni">
            <a:extLst>
              <a:ext uri="{FF2B5EF4-FFF2-40B4-BE49-F238E27FC236}">
                <a16:creationId xmlns:a16="http://schemas.microsoft.com/office/drawing/2014/main" id="{92CE4D6C-EEAC-2837-EE42-AEB497FD5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23259" y="2017136"/>
            <a:ext cx="914400" cy="9144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F70362E0-A9F8-F208-B39F-A54F2ADFF069}"/>
              </a:ext>
            </a:extLst>
          </p:cNvPr>
          <p:cNvSpPr txBox="1"/>
          <p:nvPr/>
        </p:nvSpPr>
        <p:spPr>
          <a:xfrm>
            <a:off x="5524278" y="3071234"/>
            <a:ext cx="1699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b="1">
                <a:solidFill>
                  <a:schemeClr val="tx1"/>
                </a:solidFill>
              </a:rPr>
              <a:t>Time-to-Model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9DF4FE6-AF1D-D00E-2769-B0582A795A70}"/>
              </a:ext>
            </a:extLst>
          </p:cNvPr>
          <p:cNvSpPr txBox="1"/>
          <p:nvPr/>
        </p:nvSpPr>
        <p:spPr>
          <a:xfrm>
            <a:off x="7093020" y="3071234"/>
            <a:ext cx="1699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b="1">
                <a:solidFill>
                  <a:schemeClr val="tx1"/>
                </a:solidFill>
              </a:rPr>
              <a:t>Zéro infra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1413B4A-CCEE-DFE6-8684-787E2896F9C1}"/>
              </a:ext>
            </a:extLst>
          </p:cNvPr>
          <p:cNvSpPr txBox="1"/>
          <p:nvPr/>
        </p:nvSpPr>
        <p:spPr>
          <a:xfrm>
            <a:off x="8661762" y="3071234"/>
            <a:ext cx="1699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b="1">
                <a:solidFill>
                  <a:schemeClr val="tx1"/>
                </a:solidFill>
              </a:rPr>
              <a:t>Services unifiés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A11B9A5-EFBD-5443-F75E-0EA306466B7B}"/>
              </a:ext>
            </a:extLst>
          </p:cNvPr>
          <p:cNvSpPr txBox="1"/>
          <p:nvPr/>
        </p:nvSpPr>
        <p:spPr>
          <a:xfrm>
            <a:off x="10230504" y="3071234"/>
            <a:ext cx="1699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b="1">
                <a:solidFill>
                  <a:schemeClr val="tx1"/>
                </a:solidFill>
              </a:rPr>
              <a:t>Explicabilité</a:t>
            </a:r>
          </a:p>
        </p:txBody>
      </p:sp>
    </p:spTree>
    <p:extLst>
      <p:ext uri="{BB962C8B-B14F-4D97-AF65-F5344CB8AC3E}">
        <p14:creationId xmlns:p14="http://schemas.microsoft.com/office/powerpoint/2010/main" val="267173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8BFC-5919-BEBE-97C6-9583B50D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360247B-A338-022D-6D39-2677D4C3AE64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F24CEBEA-0EC3-92EA-1BFC-EA4DF5E5D9E8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67909890-5263-E2F3-B124-FE4B3ABAD546}"/>
              </a:ext>
            </a:extLst>
          </p:cNvPr>
          <p:cNvSpPr/>
          <p:nvPr/>
        </p:nvSpPr>
        <p:spPr>
          <a:xfrm rot="12705084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FCA051D-AC1B-5A4E-2BEC-CBC18C03A905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A2DC26C-4D86-FDEA-3838-6B91F3033054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3EA9FEF-77CA-0633-DE90-841726DDEC05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04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E829EAB-A09F-3B19-D146-BA74EC0D429A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Évaluation : Risques et limites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4CB7449F-EFD8-9142-1902-D8A0EFC7E2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ED90003E-43A3-5DE2-AA95-DB3FB6F65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71822687-7BB3-EB99-334B-E447234CE2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9F51F45F-708E-4E9B-ACED-4A9E769F3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pic>
        <p:nvPicPr>
          <p:cNvPr id="3" name="Graphique 2" descr="Balance de la justice avec un remplissage uni">
            <a:extLst>
              <a:ext uri="{FF2B5EF4-FFF2-40B4-BE49-F238E27FC236}">
                <a16:creationId xmlns:a16="http://schemas.microsoft.com/office/drawing/2014/main" id="{71AC3EFF-8CCE-F346-C7CC-2CDB62DB5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9235" y="4066998"/>
            <a:ext cx="1369918" cy="1369918"/>
          </a:xfrm>
          <a:prstGeom prst="rect">
            <a:avLst/>
          </a:prstGeom>
        </p:spPr>
      </p:pic>
      <p:pic>
        <p:nvPicPr>
          <p:cNvPr id="9" name="Graphique 8" descr="Verrou avec un remplissage uni">
            <a:extLst>
              <a:ext uri="{FF2B5EF4-FFF2-40B4-BE49-F238E27FC236}">
                <a16:creationId xmlns:a16="http://schemas.microsoft.com/office/drawing/2014/main" id="{76DC4344-150A-74EC-E87D-030C743B6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3586" y="2074781"/>
            <a:ext cx="914400" cy="914400"/>
          </a:xfrm>
          <a:prstGeom prst="rect">
            <a:avLst/>
          </a:prstGeom>
        </p:spPr>
      </p:pic>
      <p:pic>
        <p:nvPicPr>
          <p:cNvPr id="11" name="Graphique 10" descr="Argent avec un remplissage uni">
            <a:extLst>
              <a:ext uri="{FF2B5EF4-FFF2-40B4-BE49-F238E27FC236}">
                <a16:creationId xmlns:a16="http://schemas.microsoft.com/office/drawing/2014/main" id="{57DF6452-81A1-512A-F0AC-679858C45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2012" y="2074781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CFD162C-7C53-47C2-E47F-1047C119EDE9}"/>
              </a:ext>
            </a:extLst>
          </p:cNvPr>
          <p:cNvSpPr txBox="1"/>
          <p:nvPr/>
        </p:nvSpPr>
        <p:spPr>
          <a:xfrm>
            <a:off x="5606698" y="3115405"/>
            <a:ext cx="1908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err="1">
                <a:ea typeface="+mn-lt"/>
                <a:cs typeface="+mn-lt"/>
              </a:rPr>
              <a:t>Vendor</a:t>
            </a:r>
            <a:r>
              <a:rPr lang="fr-FR" b="1">
                <a:ea typeface="+mn-lt"/>
                <a:cs typeface="+mn-lt"/>
              </a:rPr>
              <a:t> Lock-in</a:t>
            </a:r>
            <a:r>
              <a:rPr lang="fr-FR">
                <a:ea typeface="+mn-lt"/>
                <a:cs typeface="+mn-lt"/>
              </a:rPr>
              <a:t> </a:t>
            </a:r>
            <a:endParaRPr lang="fr-CH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899FE83-B996-6881-370F-3367216905B4}"/>
              </a:ext>
            </a:extLst>
          </p:cNvPr>
          <p:cNvSpPr txBox="1"/>
          <p:nvPr/>
        </p:nvSpPr>
        <p:spPr>
          <a:xfrm>
            <a:off x="7368869" y="3115405"/>
            <a:ext cx="2820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>
                <a:ea typeface="+mn-lt"/>
                <a:cs typeface="+mn-lt"/>
              </a:rPr>
              <a:t>Coûts imprévisibles</a:t>
            </a:r>
            <a:r>
              <a:rPr lang="fr-FR">
                <a:ea typeface="+mn-lt"/>
                <a:cs typeface="+mn-lt"/>
              </a:rPr>
              <a:t> </a:t>
            </a:r>
            <a:endParaRPr lang="fr-CH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121F2A5-3164-3198-B6D5-B5D556A4FBAD}"/>
              </a:ext>
            </a:extLst>
          </p:cNvPr>
          <p:cNvSpPr txBox="1"/>
          <p:nvPr/>
        </p:nvSpPr>
        <p:spPr>
          <a:xfrm>
            <a:off x="10235076" y="3115405"/>
            <a:ext cx="1525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>
                <a:ea typeface="+mn-lt"/>
                <a:cs typeface="+mn-lt"/>
              </a:rPr>
              <a:t>Boite noire</a:t>
            </a:r>
            <a:endParaRPr lang="fr-CH" b="1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90EDDD0-CECA-7728-51D5-E86B822D7532}"/>
              </a:ext>
            </a:extLst>
          </p:cNvPr>
          <p:cNvSpPr txBox="1"/>
          <p:nvPr/>
        </p:nvSpPr>
        <p:spPr>
          <a:xfrm>
            <a:off x="8282088" y="4904031"/>
            <a:ext cx="3102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H" b="1"/>
              <a:t>Solution mouvante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8D3BEC6-86AD-EC0E-24D4-8D032B733567}"/>
              </a:ext>
            </a:extLst>
          </p:cNvPr>
          <p:cNvSpPr txBox="1"/>
          <p:nvPr/>
        </p:nvSpPr>
        <p:spPr>
          <a:xfrm>
            <a:off x="6327070" y="4909743"/>
            <a:ext cx="2575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>
                <a:ea typeface="+mn-lt"/>
                <a:cs typeface="+mn-lt"/>
              </a:rPr>
              <a:t>Complexe à maturité</a:t>
            </a:r>
            <a:endParaRPr lang="fr-CH"/>
          </a:p>
        </p:txBody>
      </p:sp>
      <p:pic>
        <p:nvPicPr>
          <p:cNvPr id="20" name="Graphique 19" descr="Boîte avec un remplissage uni">
            <a:extLst>
              <a:ext uri="{FF2B5EF4-FFF2-40B4-BE49-F238E27FC236}">
                <a16:creationId xmlns:a16="http://schemas.microsoft.com/office/drawing/2014/main" id="{C901B1B8-F915-8AE6-6DD2-16A0EAC52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40438" y="2074781"/>
            <a:ext cx="914400" cy="914400"/>
          </a:xfrm>
          <a:prstGeom prst="rect">
            <a:avLst/>
          </a:prstGeom>
        </p:spPr>
      </p:pic>
      <p:pic>
        <p:nvPicPr>
          <p:cNvPr id="22" name="Graphique 21" descr="Perdu avec un remplissage uni">
            <a:extLst>
              <a:ext uri="{FF2B5EF4-FFF2-40B4-BE49-F238E27FC236}">
                <a16:creationId xmlns:a16="http://schemas.microsoft.com/office/drawing/2014/main" id="{DE31449F-0579-D997-CC8C-53A5C681C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2855" y="3868820"/>
            <a:ext cx="914400" cy="914400"/>
          </a:xfrm>
          <a:prstGeom prst="rect">
            <a:avLst/>
          </a:prstGeom>
        </p:spPr>
      </p:pic>
      <p:pic>
        <p:nvPicPr>
          <p:cNvPr id="24" name="Graphique 23" descr="Jongleur avec un remplissage uni">
            <a:extLst>
              <a:ext uri="{FF2B5EF4-FFF2-40B4-BE49-F238E27FC236}">
                <a16:creationId xmlns:a16="http://schemas.microsoft.com/office/drawing/2014/main" id="{FF405588-4F54-C77B-7167-8743D26DA0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76111" y="38631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5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1EF3-C2AE-CD88-76BB-340EAB82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324447E-583D-B997-2161-BD7CA97163BF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AE21A51A-87B3-ACFD-CCEC-58C410851E80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4D71DF20-748E-F654-3CB6-17C3F39934F0}"/>
              </a:ext>
            </a:extLst>
          </p:cNvPr>
          <p:cNvSpPr/>
          <p:nvPr/>
        </p:nvSpPr>
        <p:spPr>
          <a:xfrm rot="12705084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9B9418F-9404-A9A2-9B05-2631EB3D9657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C96C0FAF-6B0D-5409-8E66-2B11AB4F69FE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8B4D4A2-18B0-B54A-3E63-8C5336AEE1FE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04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91A3B81-FC9B-B3A9-CC89-A56E4F19C6CA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Évaluation : </a:t>
            </a:r>
            <a:r>
              <a:rPr lang="fr-FR" sz="2400" b="1" err="1">
                <a:solidFill>
                  <a:schemeClr val="bg1"/>
                </a:solidFill>
              </a:rPr>
              <a:t>Vendor</a:t>
            </a:r>
            <a:r>
              <a:rPr lang="fr-FR" sz="2400" b="1">
                <a:solidFill>
                  <a:schemeClr val="bg1"/>
                </a:solidFill>
              </a:rPr>
              <a:t> lock-in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88CCAA6E-2043-B941-8E1A-50AD24CCE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149B40AB-0B98-E4D4-2A1B-58077C41F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589D6D7D-B49F-01C7-E431-D976C7708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195" y="5189702"/>
            <a:ext cx="914400" cy="91440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8542B968-2DE8-4929-E4C1-A7F6EFF96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pic>
        <p:nvPicPr>
          <p:cNvPr id="3" name="Graphique 2" descr="Balance de la justice avec un remplissage uni">
            <a:extLst>
              <a:ext uri="{FF2B5EF4-FFF2-40B4-BE49-F238E27FC236}">
                <a16:creationId xmlns:a16="http://schemas.microsoft.com/office/drawing/2014/main" id="{7354607A-E033-0095-7483-F1A11A4402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9235" y="4066998"/>
            <a:ext cx="1369918" cy="1369918"/>
          </a:xfrm>
          <a:prstGeom prst="rect">
            <a:avLst/>
          </a:prstGeom>
        </p:spPr>
      </p:pic>
      <p:pic>
        <p:nvPicPr>
          <p:cNvPr id="10" name="Graphique 9" descr="Feux de signalisation avec un remplissage uni">
            <a:extLst>
              <a:ext uri="{FF2B5EF4-FFF2-40B4-BE49-F238E27FC236}">
                <a16:creationId xmlns:a16="http://schemas.microsoft.com/office/drawing/2014/main" id="{DDE7F540-979A-7A51-5F51-648DAE938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800" y="2146300"/>
            <a:ext cx="914400" cy="914400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97D32B29-618F-B9F3-D31D-D647D88A0F22}"/>
              </a:ext>
            </a:extLst>
          </p:cNvPr>
          <p:cNvSpPr/>
          <p:nvPr/>
        </p:nvSpPr>
        <p:spPr>
          <a:xfrm>
            <a:off x="5982511" y="2273300"/>
            <a:ext cx="226979" cy="22697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2" name="Graphique 11" descr="Feux de signalisation avec un remplissage uni">
            <a:extLst>
              <a:ext uri="{FF2B5EF4-FFF2-40B4-BE49-F238E27FC236}">
                <a16:creationId xmlns:a16="http://schemas.microsoft.com/office/drawing/2014/main" id="{09CDB839-2EB2-739E-3960-F55F44295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800" y="3302000"/>
            <a:ext cx="914400" cy="914400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A26DBC12-77E4-8E7F-5752-CF192B0300A4}"/>
              </a:ext>
            </a:extLst>
          </p:cNvPr>
          <p:cNvSpPr/>
          <p:nvPr/>
        </p:nvSpPr>
        <p:spPr>
          <a:xfrm>
            <a:off x="5982511" y="3644900"/>
            <a:ext cx="226979" cy="226979"/>
          </a:xfrm>
          <a:prstGeom prst="ellipse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4" name="Graphique 13" descr="Feux de signalisation avec un remplissage uni">
            <a:extLst>
              <a:ext uri="{FF2B5EF4-FFF2-40B4-BE49-F238E27FC236}">
                <a16:creationId xmlns:a16="http://schemas.microsoft.com/office/drawing/2014/main" id="{757CB5AB-65D9-C288-D926-388A0901E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8800" y="4457700"/>
            <a:ext cx="914400" cy="914400"/>
          </a:xfrm>
          <a:prstGeom prst="rect">
            <a:avLst/>
          </a:prstGeom>
        </p:spPr>
      </p:pic>
      <p:sp>
        <p:nvSpPr>
          <p:cNvPr id="15" name="Ellipse 14">
            <a:extLst>
              <a:ext uri="{FF2B5EF4-FFF2-40B4-BE49-F238E27FC236}">
                <a16:creationId xmlns:a16="http://schemas.microsoft.com/office/drawing/2014/main" id="{85843E69-B5ED-039C-202A-9B1A13504238}"/>
              </a:ext>
            </a:extLst>
          </p:cNvPr>
          <p:cNvSpPr/>
          <p:nvPr/>
        </p:nvSpPr>
        <p:spPr>
          <a:xfrm>
            <a:off x="5982511" y="5016500"/>
            <a:ext cx="226979" cy="226979"/>
          </a:xfrm>
          <a:prstGeom prst="ellipse">
            <a:avLst/>
          </a:prstGeom>
          <a:solidFill>
            <a:srgbClr val="38AF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927AD9-F401-414C-B11C-CF3599C21D77}"/>
              </a:ext>
            </a:extLst>
          </p:cNvPr>
          <p:cNvSpPr txBox="1"/>
          <p:nvPr/>
        </p:nvSpPr>
        <p:spPr>
          <a:xfrm>
            <a:off x="6592258" y="2146300"/>
            <a:ext cx="3186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err="1"/>
              <a:t>AutoML</a:t>
            </a:r>
            <a:r>
              <a:rPr lang="fr-CH"/>
              <a:t>, </a:t>
            </a:r>
            <a:r>
              <a:rPr lang="fr-CH" err="1"/>
              <a:t>Feature</a:t>
            </a:r>
            <a:r>
              <a:rPr lang="fr-CH"/>
              <a:t> store, Pipelines, API Gemini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60A275-A8E5-2A95-BB47-FFAB4A96E22C}"/>
              </a:ext>
            </a:extLst>
          </p:cNvPr>
          <p:cNvSpPr txBox="1"/>
          <p:nvPr/>
        </p:nvSpPr>
        <p:spPr>
          <a:xfrm>
            <a:off x="6592258" y="3302000"/>
            <a:ext cx="3186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err="1"/>
              <a:t>Endpoints</a:t>
            </a:r>
            <a:r>
              <a:rPr lang="fr-CH"/>
              <a:t>, SDK </a:t>
            </a:r>
            <a:r>
              <a:rPr lang="fr-CH" i="1" err="1"/>
              <a:t>aiplatform</a:t>
            </a:r>
            <a:r>
              <a:rPr lang="fr-CH"/>
              <a:t>, format </a:t>
            </a:r>
            <a:r>
              <a:rPr lang="fr-CH" err="1"/>
              <a:t>datasets</a:t>
            </a:r>
            <a:endParaRPr lang="fr-CH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59ED315-01D5-1CB8-1F76-8CE73C112861}"/>
              </a:ext>
            </a:extLst>
          </p:cNvPr>
          <p:cNvSpPr txBox="1"/>
          <p:nvPr/>
        </p:nvSpPr>
        <p:spPr>
          <a:xfrm>
            <a:off x="6592258" y="4457700"/>
            <a:ext cx="3186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Custom training, données GCS/</a:t>
            </a:r>
            <a:r>
              <a:rPr lang="fr-CH" err="1"/>
              <a:t>BigQuery</a:t>
            </a:r>
            <a:r>
              <a:rPr lang="fr-CH"/>
              <a:t>, Modèle OSS du Model Garden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981DDFD-59B5-A8BC-FFB6-886679B94E37}"/>
              </a:ext>
            </a:extLst>
          </p:cNvPr>
          <p:cNvSpPr txBox="1"/>
          <p:nvPr/>
        </p:nvSpPr>
        <p:spPr>
          <a:xfrm>
            <a:off x="9779000" y="2146300"/>
            <a:ext cx="318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Abstraction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E380BE2-6A1A-B60F-A7FD-EFD3221B4A51}"/>
              </a:ext>
            </a:extLst>
          </p:cNvPr>
          <p:cNvSpPr txBox="1"/>
          <p:nvPr/>
        </p:nvSpPr>
        <p:spPr>
          <a:xfrm>
            <a:off x="9779000" y="3321734"/>
            <a:ext cx="3186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Encapsulation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A058260-036B-3B7A-0885-43981A005A3F}"/>
              </a:ext>
            </a:extLst>
          </p:cNvPr>
          <p:cNvSpPr txBox="1"/>
          <p:nvPr/>
        </p:nvSpPr>
        <p:spPr>
          <a:xfrm>
            <a:off x="9779000" y="4477434"/>
            <a:ext cx="3186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/>
              <a:t>Formats ouverts (Parquet/SQL)</a:t>
            </a:r>
          </a:p>
        </p:txBody>
      </p:sp>
    </p:spTree>
    <p:extLst>
      <p:ext uri="{BB962C8B-B14F-4D97-AF65-F5344CB8AC3E}">
        <p14:creationId xmlns:p14="http://schemas.microsoft.com/office/powerpoint/2010/main" val="829301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0C2C8-71A4-87AD-2A4B-B4DF5A20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06B8488-C2EC-9F7C-185D-674416373E6C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A01D7A5F-282D-535E-AE9C-9B1B40FF221F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2457429D-9B5A-037E-9C07-0F7FB08E3C9C}"/>
              </a:ext>
            </a:extLst>
          </p:cNvPr>
          <p:cNvSpPr/>
          <p:nvPr/>
        </p:nvSpPr>
        <p:spPr>
          <a:xfrm rot="14627965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89A7F37-DC46-575F-49A0-B3158810E16B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4983910-DFAE-964D-38DD-0D9179C6560C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E09C60F-2D9E-CBE4-58E8-F0D4F1F27B5B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05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E6DAE0B-2F63-2C9A-6CF9-E80E5A57183A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Coûts : Structure et scénario chiffré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BC0B2656-A070-60DE-92DE-8517E27925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4BBB7F98-9442-E635-D531-30300980E5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F2C63DB7-6419-169D-D9D4-6B0C651B1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C208BC61-A871-555A-887B-E08BFFB6FB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10" y="5000017"/>
            <a:ext cx="1293770" cy="129377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30B24156-AE94-0DBD-7ED0-89A8570BD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232BC36-D0F5-88C4-A104-BAF113E34D6A}"/>
              </a:ext>
            </a:extLst>
          </p:cNvPr>
          <p:cNvSpPr txBox="1"/>
          <p:nvPr/>
        </p:nvSpPr>
        <p:spPr>
          <a:xfrm>
            <a:off x="5451658" y="2083429"/>
            <a:ext cx="66006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/>
              <a:t>Modèle</a:t>
            </a:r>
            <a:r>
              <a:rPr lang="fr-CH"/>
              <a:t> : Paiement à l’usage (</a:t>
            </a:r>
            <a:r>
              <a:rPr lang="fr-CH" err="1"/>
              <a:t>compute</a:t>
            </a:r>
            <a:r>
              <a:rPr lang="fr-CH"/>
              <a:t> + stockage) facturé à la seconde. </a:t>
            </a:r>
          </a:p>
          <a:p>
            <a:pPr marL="285750" indent="-285750">
              <a:buFontTx/>
              <a:buChar char="-"/>
            </a:pPr>
            <a:r>
              <a:rPr lang="fr-CH"/>
              <a:t>Entrainement </a:t>
            </a:r>
            <a:r>
              <a:rPr lang="fr-CH" err="1"/>
              <a:t>AutoML</a:t>
            </a:r>
            <a:r>
              <a:rPr lang="fr-CH"/>
              <a:t> </a:t>
            </a:r>
            <a:r>
              <a:rPr lang="fr-CH" err="1"/>
              <a:t>Tabular</a:t>
            </a:r>
            <a:r>
              <a:rPr lang="fr-CH"/>
              <a:t> : 21$/</a:t>
            </a:r>
            <a:r>
              <a:rPr lang="fr-CH" err="1"/>
              <a:t>node</a:t>
            </a:r>
            <a:r>
              <a:rPr lang="fr-CH"/>
              <a:t>-heure</a:t>
            </a:r>
          </a:p>
          <a:p>
            <a:pPr marL="285750" indent="-285750">
              <a:buFontTx/>
              <a:buChar char="-"/>
            </a:pPr>
            <a:r>
              <a:rPr lang="fr-CH"/>
              <a:t>Endpoint online n1-standrad-4 : 0,22$/h = 160$/mois en 24/7</a:t>
            </a:r>
          </a:p>
          <a:p>
            <a:pPr marL="285750" indent="-285750">
              <a:buFontTx/>
              <a:buChar char="-"/>
            </a:pPr>
            <a:r>
              <a:rPr lang="fr-CH"/>
              <a:t>Batch : Seulement le </a:t>
            </a:r>
            <a:r>
              <a:rPr lang="fr-CH" err="1"/>
              <a:t>compute</a:t>
            </a:r>
            <a:r>
              <a:rPr lang="fr-CH"/>
              <a:t> </a:t>
            </a:r>
          </a:p>
          <a:p>
            <a:pPr marL="285750" indent="-285750">
              <a:buFontTx/>
              <a:buChar char="-"/>
            </a:pPr>
            <a:r>
              <a:rPr lang="fr-CH"/>
              <a:t>Gemini : au </a:t>
            </a:r>
            <a:r>
              <a:rPr lang="fr-CH" err="1"/>
              <a:t>token</a:t>
            </a:r>
            <a:endParaRPr lang="fr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B20853-FF80-214D-F3AE-C55FE1199F85}"/>
              </a:ext>
            </a:extLst>
          </p:cNvPr>
          <p:cNvSpPr/>
          <p:nvPr/>
        </p:nvSpPr>
        <p:spPr>
          <a:xfrm>
            <a:off x="5451659" y="3915803"/>
            <a:ext cx="3023420" cy="359499"/>
          </a:xfrm>
          <a:prstGeom prst="rect">
            <a:avLst/>
          </a:prstGeom>
          <a:solidFill>
            <a:srgbClr val="EC42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Poste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532545-3B0E-2044-C18A-509D54A4A96C}"/>
              </a:ext>
            </a:extLst>
          </p:cNvPr>
          <p:cNvSpPr/>
          <p:nvPr/>
        </p:nvSpPr>
        <p:spPr>
          <a:xfrm>
            <a:off x="8481091" y="3915803"/>
            <a:ext cx="1784434" cy="359500"/>
          </a:xfrm>
          <a:prstGeom prst="rect">
            <a:avLst/>
          </a:prstGeom>
          <a:solidFill>
            <a:srgbClr val="EC42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Endpoint 24/7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6E22D-F072-BDA5-6602-6E660E4BAF52}"/>
              </a:ext>
            </a:extLst>
          </p:cNvPr>
          <p:cNvSpPr/>
          <p:nvPr/>
        </p:nvSpPr>
        <p:spPr>
          <a:xfrm>
            <a:off x="10271537" y="3915803"/>
            <a:ext cx="1784434" cy="359500"/>
          </a:xfrm>
          <a:prstGeom prst="rect">
            <a:avLst/>
          </a:prstGeom>
          <a:solidFill>
            <a:srgbClr val="EC42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/>
              <a:t>Batch mensuel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0914E1-0B1A-132B-51AF-F645CC09FDF4}"/>
              </a:ext>
            </a:extLst>
          </p:cNvPr>
          <p:cNvSpPr/>
          <p:nvPr/>
        </p:nvSpPr>
        <p:spPr>
          <a:xfrm>
            <a:off x="5451659" y="4268653"/>
            <a:ext cx="3023420" cy="359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Entrainement (2 </a:t>
            </a:r>
            <a:r>
              <a:rPr lang="fr-CH" sz="1600" err="1">
                <a:solidFill>
                  <a:schemeClr val="tx1"/>
                </a:solidFill>
              </a:rPr>
              <a:t>node</a:t>
            </a:r>
            <a:r>
              <a:rPr lang="fr-CH" sz="1600">
                <a:solidFill>
                  <a:schemeClr val="tx1"/>
                </a:solidFill>
              </a:rPr>
              <a:t>-h/mois)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06019-EA78-1DB2-6971-A9E9B0990B33}"/>
              </a:ext>
            </a:extLst>
          </p:cNvPr>
          <p:cNvSpPr/>
          <p:nvPr/>
        </p:nvSpPr>
        <p:spPr>
          <a:xfrm>
            <a:off x="8481091" y="4268653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42$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47AFDA-76C7-5CF2-ED3C-3AC9B1DE2608}"/>
              </a:ext>
            </a:extLst>
          </p:cNvPr>
          <p:cNvSpPr/>
          <p:nvPr/>
        </p:nvSpPr>
        <p:spPr>
          <a:xfrm>
            <a:off x="10271537" y="4268653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42$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465CB7-38D7-B76E-CB70-3116CCE36AA9}"/>
              </a:ext>
            </a:extLst>
          </p:cNvPr>
          <p:cNvSpPr/>
          <p:nvPr/>
        </p:nvSpPr>
        <p:spPr>
          <a:xfrm>
            <a:off x="5451659" y="4649893"/>
            <a:ext cx="3023420" cy="359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 err="1">
                <a:solidFill>
                  <a:schemeClr val="tx1"/>
                </a:solidFill>
              </a:rPr>
              <a:t>Serving</a:t>
            </a:r>
            <a:endParaRPr lang="fr-CH" sz="16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E96EA1-0ED7-3569-2CAB-3969874F1AC6}"/>
              </a:ext>
            </a:extLst>
          </p:cNvPr>
          <p:cNvSpPr/>
          <p:nvPr/>
        </p:nvSpPr>
        <p:spPr>
          <a:xfrm>
            <a:off x="8481091" y="4649893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160$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3F3DD8-3D52-D577-A704-CD852E0DA53A}"/>
              </a:ext>
            </a:extLst>
          </p:cNvPr>
          <p:cNvSpPr/>
          <p:nvPr/>
        </p:nvSpPr>
        <p:spPr>
          <a:xfrm>
            <a:off x="10271537" y="4649893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8$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C57FF5-539E-07A9-CDC0-D2454E2382EB}"/>
              </a:ext>
            </a:extLst>
          </p:cNvPr>
          <p:cNvSpPr/>
          <p:nvPr/>
        </p:nvSpPr>
        <p:spPr>
          <a:xfrm>
            <a:off x="5451659" y="5009392"/>
            <a:ext cx="3023420" cy="359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Stockage + notebook dev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0B50B7-0164-28B5-2F03-F76E8B3E0AE3}"/>
              </a:ext>
            </a:extLst>
          </p:cNvPr>
          <p:cNvSpPr/>
          <p:nvPr/>
        </p:nvSpPr>
        <p:spPr>
          <a:xfrm>
            <a:off x="8481091" y="5009392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15$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4A96D-B5FB-8BB0-54E1-95819D1555AA}"/>
              </a:ext>
            </a:extLst>
          </p:cNvPr>
          <p:cNvSpPr/>
          <p:nvPr/>
        </p:nvSpPr>
        <p:spPr>
          <a:xfrm>
            <a:off x="10271537" y="5009392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>
                <a:solidFill>
                  <a:schemeClr val="tx1"/>
                </a:solidFill>
              </a:rPr>
              <a:t>15$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EF2608-8875-D1C0-C8DC-7432D6F9E809}"/>
              </a:ext>
            </a:extLst>
          </p:cNvPr>
          <p:cNvSpPr/>
          <p:nvPr/>
        </p:nvSpPr>
        <p:spPr>
          <a:xfrm>
            <a:off x="5451659" y="5390630"/>
            <a:ext cx="3023420" cy="359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 b="1">
                <a:solidFill>
                  <a:schemeClr val="tx1"/>
                </a:solidFill>
              </a:rPr>
              <a:t>Total / mois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D2E77E-E265-7031-42EB-C8BBBAD97C76}"/>
              </a:ext>
            </a:extLst>
          </p:cNvPr>
          <p:cNvSpPr/>
          <p:nvPr/>
        </p:nvSpPr>
        <p:spPr>
          <a:xfrm>
            <a:off x="8481091" y="5390630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 b="1">
                <a:solidFill>
                  <a:schemeClr val="tx1"/>
                </a:solidFill>
              </a:rPr>
              <a:t>217$ (~195CHF)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9C740C-4392-65CE-6E43-F289BA8F87A4}"/>
              </a:ext>
            </a:extLst>
          </p:cNvPr>
          <p:cNvSpPr/>
          <p:nvPr/>
        </p:nvSpPr>
        <p:spPr>
          <a:xfrm>
            <a:off x="10271537" y="5390630"/>
            <a:ext cx="1784434" cy="359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H" sz="1600" b="1">
                <a:solidFill>
                  <a:schemeClr val="tx1"/>
                </a:solidFill>
              </a:rPr>
              <a:t>65$ (~60CHF)</a:t>
            </a:r>
          </a:p>
        </p:txBody>
      </p:sp>
    </p:spTree>
    <p:extLst>
      <p:ext uri="{BB962C8B-B14F-4D97-AF65-F5344CB8AC3E}">
        <p14:creationId xmlns:p14="http://schemas.microsoft.com/office/powerpoint/2010/main" val="209060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B204-2EAB-DCBB-02E7-F5C6DA151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70B2589-0FB0-78DA-FCEE-72EBF87D5FE9}"/>
              </a:ext>
            </a:extLst>
          </p:cNvPr>
          <p:cNvSpPr/>
          <p:nvPr/>
        </p:nvSpPr>
        <p:spPr>
          <a:xfrm>
            <a:off x="5262663" y="1050587"/>
            <a:ext cx="7947499" cy="4958317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Cercle : creux 3">
            <a:extLst>
              <a:ext uri="{FF2B5EF4-FFF2-40B4-BE49-F238E27FC236}">
                <a16:creationId xmlns:a16="http://schemas.microsoft.com/office/drawing/2014/main" id="{9EB04F91-3AF1-B402-3300-0F5FA9482B1F}"/>
              </a:ext>
            </a:extLst>
          </p:cNvPr>
          <p:cNvSpPr/>
          <p:nvPr/>
        </p:nvSpPr>
        <p:spPr>
          <a:xfrm>
            <a:off x="-3294143" y="118768"/>
            <a:ext cx="6581553" cy="6581553"/>
          </a:xfrm>
          <a:prstGeom prst="donut">
            <a:avLst/>
          </a:prstGeom>
          <a:gradFill flip="none" rotWithShape="1">
            <a:gsLst>
              <a:gs pos="0">
                <a:srgbClr val="DD2C00">
                  <a:shade val="30000"/>
                  <a:satMod val="115000"/>
                </a:srgbClr>
              </a:gs>
              <a:gs pos="50000">
                <a:srgbClr val="DD2C00">
                  <a:shade val="67500"/>
                  <a:satMod val="115000"/>
                </a:srgbClr>
              </a:gs>
              <a:gs pos="100000">
                <a:srgbClr val="DD2C0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5" name="Arc plein 4">
            <a:extLst>
              <a:ext uri="{FF2B5EF4-FFF2-40B4-BE49-F238E27FC236}">
                <a16:creationId xmlns:a16="http://schemas.microsoft.com/office/drawing/2014/main" id="{009A4EE8-4488-351D-BBC1-CA993CBC4D9A}"/>
              </a:ext>
            </a:extLst>
          </p:cNvPr>
          <p:cNvSpPr/>
          <p:nvPr/>
        </p:nvSpPr>
        <p:spPr>
          <a:xfrm rot="14627965">
            <a:off x="-3411887" y="1024"/>
            <a:ext cx="6817041" cy="6817041"/>
          </a:xfrm>
          <a:prstGeom prst="blockArc">
            <a:avLst>
              <a:gd name="adj1" fmla="val 9882891"/>
              <a:gd name="adj2" fmla="val 11993567"/>
              <a:gd name="adj3" fmla="val 27848"/>
            </a:avLst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5FEC7C7-BF39-3D13-701D-E342ADD41119}"/>
              </a:ext>
            </a:extLst>
          </p:cNvPr>
          <p:cNvSpPr/>
          <p:nvPr/>
        </p:nvSpPr>
        <p:spPr>
          <a:xfrm>
            <a:off x="4649821" y="651753"/>
            <a:ext cx="11556460" cy="1225685"/>
          </a:xfrm>
          <a:prstGeom prst="roundRect">
            <a:avLst>
              <a:gd name="adj" fmla="val 50000"/>
            </a:avLst>
          </a:prstGeom>
          <a:solidFill>
            <a:srgbClr val="DD2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1C0CEDD-DB0B-A0CE-7856-47AEEA77CE56}"/>
              </a:ext>
            </a:extLst>
          </p:cNvPr>
          <p:cNvSpPr/>
          <p:nvPr/>
        </p:nvSpPr>
        <p:spPr>
          <a:xfrm>
            <a:off x="4649821" y="651753"/>
            <a:ext cx="1225685" cy="1225685"/>
          </a:xfrm>
          <a:prstGeom prst="ellipse">
            <a:avLst/>
          </a:prstGeom>
          <a:gradFill>
            <a:gsLst>
              <a:gs pos="0">
                <a:srgbClr val="FF9100"/>
              </a:gs>
              <a:gs pos="26000">
                <a:srgbClr val="FF9100"/>
              </a:gs>
              <a:gs pos="100000">
                <a:srgbClr val="FFC40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06C214F-2C53-7047-FBE5-675B625ED1EF}"/>
              </a:ext>
            </a:extLst>
          </p:cNvPr>
          <p:cNvSpPr txBox="1"/>
          <p:nvPr/>
        </p:nvSpPr>
        <p:spPr>
          <a:xfrm>
            <a:off x="4526382" y="849096"/>
            <a:ext cx="15549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800" b="1">
                <a:solidFill>
                  <a:schemeClr val="bg1"/>
                </a:solidFill>
              </a:rPr>
              <a:t>05</a:t>
            </a:r>
            <a:endParaRPr lang="fr-CH" sz="4800" b="1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827AFBA-18CC-4FEA-3D3C-F0F11A22806E}"/>
              </a:ext>
            </a:extLst>
          </p:cNvPr>
          <p:cNvSpPr txBox="1"/>
          <p:nvPr/>
        </p:nvSpPr>
        <p:spPr>
          <a:xfrm>
            <a:off x="6024440" y="849096"/>
            <a:ext cx="616755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>
                <a:solidFill>
                  <a:schemeClr val="bg1"/>
                </a:solidFill>
              </a:rPr>
              <a:t>Coûts : Alternatives et positionnement</a:t>
            </a:r>
            <a:endParaRPr lang="fr-CH" sz="2400" b="1">
              <a:solidFill>
                <a:schemeClr val="bg1"/>
              </a:solidFill>
            </a:endParaRPr>
          </a:p>
        </p:txBody>
      </p:sp>
      <p:pic>
        <p:nvPicPr>
          <p:cNvPr id="44" name="Graphique 43" descr="Branché débranché avec un remplissage uni">
            <a:extLst>
              <a:ext uri="{FF2B5EF4-FFF2-40B4-BE49-F238E27FC236}">
                <a16:creationId xmlns:a16="http://schemas.microsoft.com/office/drawing/2014/main" id="{15006C21-28AA-5E54-8786-219C87126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6994" y="1668298"/>
            <a:ext cx="914400" cy="914400"/>
          </a:xfrm>
          <a:prstGeom prst="rect">
            <a:avLst/>
          </a:prstGeom>
        </p:spPr>
      </p:pic>
      <p:pic>
        <p:nvPicPr>
          <p:cNvPr id="45" name="Graphique 44" descr="Architecture avec un remplissage uni">
            <a:extLst>
              <a:ext uri="{FF2B5EF4-FFF2-40B4-BE49-F238E27FC236}">
                <a16:creationId xmlns:a16="http://schemas.microsoft.com/office/drawing/2014/main" id="{4EF35BA0-03CA-91C5-E274-5F36602D1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9492" y="2953531"/>
            <a:ext cx="962272" cy="962272"/>
          </a:xfrm>
          <a:prstGeom prst="rect">
            <a:avLst/>
          </a:prstGeom>
        </p:spPr>
      </p:pic>
      <p:pic>
        <p:nvPicPr>
          <p:cNvPr id="47" name="Graphique 46" descr="Balance de la justice avec un remplissage uni">
            <a:extLst>
              <a:ext uri="{FF2B5EF4-FFF2-40B4-BE49-F238E27FC236}">
                <a16:creationId xmlns:a16="http://schemas.microsoft.com/office/drawing/2014/main" id="{249DFACC-9198-8BFE-FAE0-43AE43C60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6994" y="4275302"/>
            <a:ext cx="914400" cy="914400"/>
          </a:xfrm>
          <a:prstGeom prst="rect">
            <a:avLst/>
          </a:prstGeom>
        </p:spPr>
      </p:pic>
      <p:pic>
        <p:nvPicPr>
          <p:cNvPr id="48" name="Graphique 47" descr="Pièces avec un remplissage uni">
            <a:extLst>
              <a:ext uri="{FF2B5EF4-FFF2-40B4-BE49-F238E27FC236}">
                <a16:creationId xmlns:a16="http://schemas.microsoft.com/office/drawing/2014/main" id="{7B619CEA-2864-8FCE-ADEC-C8E063E634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10" y="5000017"/>
            <a:ext cx="1293770" cy="1293770"/>
          </a:xfrm>
          <a:prstGeom prst="rect">
            <a:avLst/>
          </a:prstGeom>
        </p:spPr>
      </p:pic>
      <p:pic>
        <p:nvPicPr>
          <p:cNvPr id="2" name="Graphique 1" descr="Mur de briques en construction avec un remplissage uni">
            <a:extLst>
              <a:ext uri="{FF2B5EF4-FFF2-40B4-BE49-F238E27FC236}">
                <a16:creationId xmlns:a16="http://schemas.microsoft.com/office/drawing/2014/main" id="{7CB93766-6C81-9572-FEAB-198D2D85D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95" y="593387"/>
            <a:ext cx="914400" cy="914400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D48EA5FA-718F-D55B-9778-181E1E236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5382299" y="2072747"/>
            <a:ext cx="90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F6A487C6-82F4-2BB4-4A4B-E89B2271F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5562299" y="2701896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Proud to be a Databricks Partner | 27G">
            <a:extLst>
              <a:ext uri="{FF2B5EF4-FFF2-40B4-BE49-F238E27FC236}">
                <a16:creationId xmlns:a16="http://schemas.microsoft.com/office/drawing/2014/main" id="{4BB7ED1B-AAF8-7878-8949-E749A5B8E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014" y="3295950"/>
            <a:ext cx="102857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35DBC29-7F4E-1158-2B6E-7C4BCA354DDE}"/>
              </a:ext>
            </a:extLst>
          </p:cNvPr>
          <p:cNvSpPr txBox="1"/>
          <p:nvPr/>
        </p:nvSpPr>
        <p:spPr>
          <a:xfrm>
            <a:off x="6437335" y="2072747"/>
            <a:ext cx="561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err="1"/>
              <a:t>SageMaker</a:t>
            </a:r>
            <a:r>
              <a:rPr lang="fr-CH"/>
              <a:t> : Équivalent direct, plus riche mais plus complexe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D6202DE-938D-2964-F62C-750D6398FCAE}"/>
              </a:ext>
            </a:extLst>
          </p:cNvPr>
          <p:cNvSpPr txBox="1"/>
          <p:nvPr/>
        </p:nvSpPr>
        <p:spPr>
          <a:xfrm>
            <a:off x="6437335" y="2648731"/>
            <a:ext cx="561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/>
              <a:t>ML</a:t>
            </a:r>
            <a:r>
              <a:rPr lang="fr-CH"/>
              <a:t> : Équivalent direct, meilleur pour l’intégration Microsoft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3120280-EE52-067A-BDEF-6B44DA160621}"/>
              </a:ext>
            </a:extLst>
          </p:cNvPr>
          <p:cNvSpPr txBox="1"/>
          <p:nvPr/>
        </p:nvSpPr>
        <p:spPr>
          <a:xfrm>
            <a:off x="6401935" y="3354700"/>
            <a:ext cx="565036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CH" b="1" err="1"/>
              <a:t>MLflow</a:t>
            </a:r>
            <a:r>
              <a:rPr lang="fr-CH"/>
              <a:t> : </a:t>
            </a:r>
            <a:r>
              <a:rPr lang="fr-CH" err="1"/>
              <a:t>Lakehouse</a:t>
            </a:r>
            <a:r>
              <a:rPr lang="fr-CH"/>
              <a:t> </a:t>
            </a:r>
            <a:r>
              <a:rPr lang="fr-CH" err="1"/>
              <a:t>multi-cloud</a:t>
            </a:r>
            <a:r>
              <a:rPr lang="fr-CH"/>
              <a:t>, moins «no code»</a:t>
            </a:r>
          </a:p>
        </p:txBody>
      </p:sp>
      <p:pic>
        <p:nvPicPr>
          <p:cNvPr id="8200" name="Picture 8" descr="Open source — Wikipédia">
            <a:extLst>
              <a:ext uri="{FF2B5EF4-FFF2-40B4-BE49-F238E27FC236}">
                <a16:creationId xmlns:a16="http://schemas.microsoft.com/office/drawing/2014/main" id="{00B3E509-0472-798E-FD9A-DDF70E654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/>
        </p:blipFill>
        <p:spPr bwMode="auto">
          <a:xfrm>
            <a:off x="5562299" y="392509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474808F6-C0C6-DA52-F910-C9C88444E297}"/>
              </a:ext>
            </a:extLst>
          </p:cNvPr>
          <p:cNvSpPr txBox="1"/>
          <p:nvPr/>
        </p:nvSpPr>
        <p:spPr>
          <a:xfrm>
            <a:off x="6437335" y="3871046"/>
            <a:ext cx="561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/>
              <a:t>Open source</a:t>
            </a:r>
            <a:r>
              <a:rPr lang="fr-CH"/>
              <a:t> : (</a:t>
            </a:r>
            <a:r>
              <a:rPr lang="fr-CH" err="1"/>
              <a:t>scikit</a:t>
            </a:r>
            <a:r>
              <a:rPr lang="fr-CH"/>
              <a:t> </a:t>
            </a:r>
            <a:r>
              <a:rPr lang="fr-CH" err="1"/>
              <a:t>learn</a:t>
            </a:r>
            <a:r>
              <a:rPr lang="fr-CH"/>
              <a:t>, </a:t>
            </a:r>
            <a:r>
              <a:rPr lang="fr-CH" err="1"/>
              <a:t>FastAPI</a:t>
            </a:r>
            <a:r>
              <a:rPr lang="fr-CH"/>
              <a:t>, </a:t>
            </a:r>
            <a:r>
              <a:rPr lang="fr-CH" err="1"/>
              <a:t>Airflwo</a:t>
            </a:r>
            <a:r>
              <a:rPr lang="fr-CH"/>
              <a:t>), moins cher, contrôle total, mais il faut tout maintenir</a:t>
            </a:r>
          </a:p>
        </p:txBody>
      </p:sp>
      <p:pic>
        <p:nvPicPr>
          <p:cNvPr id="8202" name="Picture 10" descr="OpenAI (@openai) • Facebook">
            <a:extLst>
              <a:ext uri="{FF2B5EF4-FFF2-40B4-BE49-F238E27FC236}">
                <a16:creationId xmlns:a16="http://schemas.microsoft.com/office/drawing/2014/main" id="{BC985EB8-DB8B-C96A-B713-8D6A3691E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/>
        </p:blipFill>
        <p:spPr bwMode="auto">
          <a:xfrm>
            <a:off x="5562299" y="4649702"/>
            <a:ext cx="54241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B6570C68-B58A-24B5-0CEA-6A00732AFBC7}"/>
              </a:ext>
            </a:extLst>
          </p:cNvPr>
          <p:cNvSpPr txBox="1"/>
          <p:nvPr/>
        </p:nvSpPr>
        <p:spPr>
          <a:xfrm>
            <a:off x="6437335" y="4593045"/>
            <a:ext cx="5614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/>
              <a:t>API GenAI </a:t>
            </a:r>
            <a:r>
              <a:rPr lang="fr-CH"/>
              <a:t>: (OpenAI, </a:t>
            </a:r>
            <a:r>
              <a:rPr lang="fr-CH" err="1"/>
              <a:t>Anthropic</a:t>
            </a:r>
            <a:r>
              <a:rPr lang="fr-CH"/>
              <a:t>, HF), pour la GenAI pure, sans </a:t>
            </a:r>
            <a:r>
              <a:rPr lang="fr-CH" err="1"/>
              <a:t>MLOps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9296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A420-96DB-7857-AE4E-CF113B90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804F57C-F92A-1A66-2383-B7260B455C09}"/>
              </a:ext>
            </a:extLst>
          </p:cNvPr>
          <p:cNvSpPr/>
          <p:nvPr/>
        </p:nvSpPr>
        <p:spPr>
          <a:xfrm>
            <a:off x="1100982" y="304800"/>
            <a:ext cx="9990037" cy="6232624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602CAA9-0469-09B1-2039-C9717BF828A9}"/>
              </a:ext>
            </a:extLst>
          </p:cNvPr>
          <p:cNvSpPr txBox="1"/>
          <p:nvPr/>
        </p:nvSpPr>
        <p:spPr>
          <a:xfrm>
            <a:off x="3048000" y="10032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>
                <a:solidFill>
                  <a:sysClr val="windowText" lastClr="000000"/>
                </a:solidFill>
              </a:rPr>
              <a:t>CONCLUSION</a:t>
            </a:r>
            <a:endParaRPr lang="fr-CH" sz="1800" b="1">
              <a:solidFill>
                <a:sysClr val="windowText" lastClr="00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42A1D99-58C0-EA8D-4958-07F7FB876CB1}"/>
              </a:ext>
            </a:extLst>
          </p:cNvPr>
          <p:cNvSpPr txBox="1"/>
          <p:nvPr/>
        </p:nvSpPr>
        <p:spPr>
          <a:xfrm>
            <a:off x="1520190" y="2766060"/>
            <a:ext cx="45758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H"/>
              <a:t>Déjà sur GCP / </a:t>
            </a:r>
            <a:r>
              <a:rPr lang="fr-CH" err="1"/>
              <a:t>BigQuery</a:t>
            </a:r>
            <a:endParaRPr lang="fr-CH"/>
          </a:p>
          <a:p>
            <a:pPr marL="285750" indent="-285750">
              <a:buFontTx/>
              <a:buChar char="-"/>
            </a:pPr>
            <a:r>
              <a:rPr lang="fr-CH"/>
              <a:t>Peu ou pas d’</a:t>
            </a:r>
            <a:r>
              <a:rPr lang="fr-CH" err="1"/>
              <a:t>équile</a:t>
            </a:r>
            <a:r>
              <a:rPr lang="fr-CH"/>
              <a:t> </a:t>
            </a:r>
            <a:r>
              <a:rPr lang="fr-CH" err="1"/>
              <a:t>MLOps</a:t>
            </a:r>
            <a:endParaRPr lang="fr-CH"/>
          </a:p>
          <a:p>
            <a:pPr marL="285750" indent="-285750">
              <a:buFontTx/>
              <a:buChar char="-"/>
            </a:pPr>
            <a:r>
              <a:rPr lang="fr-CH"/>
              <a:t>Time-to-model critique</a:t>
            </a:r>
          </a:p>
          <a:p>
            <a:pPr marL="285750" indent="-285750">
              <a:buFontTx/>
              <a:buChar char="-"/>
            </a:pPr>
            <a:r>
              <a:rPr lang="fr-CH"/>
              <a:t>Données tabulaires / images standards</a:t>
            </a:r>
          </a:p>
          <a:p>
            <a:pPr marL="285750" indent="-285750">
              <a:buFontTx/>
              <a:buChar char="-"/>
            </a:pPr>
            <a:r>
              <a:rPr lang="fr-CH"/>
              <a:t>Charge variable	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8741EB3-8DBC-EC9F-759D-7F90CC7BFB09}"/>
              </a:ext>
            </a:extLst>
          </p:cNvPr>
          <p:cNvSpPr txBox="1"/>
          <p:nvPr/>
        </p:nvSpPr>
        <p:spPr>
          <a:xfrm>
            <a:off x="6066225" y="2766060"/>
            <a:ext cx="45758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CH"/>
              <a:t>Besoin simple et stable</a:t>
            </a:r>
          </a:p>
          <a:p>
            <a:pPr marL="285750" indent="-285750">
              <a:buFontTx/>
              <a:buChar char="-"/>
            </a:pPr>
            <a:r>
              <a:rPr lang="fr-CH"/>
              <a:t>Petit budget + trafic faible</a:t>
            </a:r>
          </a:p>
          <a:p>
            <a:pPr marL="285750" indent="-285750">
              <a:buFontTx/>
              <a:buChar char="-"/>
            </a:pPr>
            <a:r>
              <a:rPr lang="fr-CH"/>
              <a:t>Exigence de portabilité / souveraineté</a:t>
            </a:r>
          </a:p>
          <a:p>
            <a:pPr marL="285750" indent="-285750">
              <a:buFontTx/>
              <a:buChar char="-"/>
            </a:pPr>
            <a:r>
              <a:rPr lang="fr-CH"/>
              <a:t>Besoin de contrôle fin sur l’algo</a:t>
            </a:r>
          </a:p>
          <a:p>
            <a:pPr marL="285750" indent="-285750">
              <a:buFontTx/>
              <a:buChar char="-"/>
            </a:pPr>
            <a:r>
              <a:rPr lang="fr-CH" err="1"/>
              <a:t>Multi-cloud</a:t>
            </a:r>
            <a:r>
              <a:rPr lang="fr-CH"/>
              <a:t> imposé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38D2AED-6D1F-E305-9112-79809CF76795}"/>
              </a:ext>
            </a:extLst>
          </p:cNvPr>
          <p:cNvSpPr txBox="1"/>
          <p:nvPr/>
        </p:nvSpPr>
        <p:spPr>
          <a:xfrm>
            <a:off x="2030730" y="5137875"/>
            <a:ext cx="813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b="1"/>
              <a:t>Vertex AI</a:t>
            </a:r>
            <a:r>
              <a:rPr lang="fr-CH"/>
              <a:t> : Raccourci puissant pour faire du ML sans équipe dédiée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DBC4B90-7474-7558-E7A9-7BC12DFCBF28}"/>
              </a:ext>
            </a:extLst>
          </p:cNvPr>
          <p:cNvSpPr/>
          <p:nvPr/>
        </p:nvSpPr>
        <p:spPr>
          <a:xfrm>
            <a:off x="1497329" y="2171700"/>
            <a:ext cx="4320000" cy="2537460"/>
          </a:xfrm>
          <a:prstGeom prst="roundRect">
            <a:avLst/>
          </a:prstGeom>
          <a:noFill/>
          <a:ln w="38100">
            <a:solidFill>
              <a:srgbClr val="38AF5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DCA63FF-C9A9-1382-228D-B7C36481B215}"/>
              </a:ext>
            </a:extLst>
          </p:cNvPr>
          <p:cNvSpPr/>
          <p:nvPr/>
        </p:nvSpPr>
        <p:spPr>
          <a:xfrm>
            <a:off x="5972770" y="2171700"/>
            <a:ext cx="4320000" cy="2537460"/>
          </a:xfrm>
          <a:prstGeom prst="roundRect">
            <a:avLst/>
          </a:prstGeom>
          <a:noFill/>
          <a:ln w="38100">
            <a:solidFill>
              <a:srgbClr val="EC423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B5FB647-B553-6C87-C6D5-FD48F6855D38}"/>
              </a:ext>
            </a:extLst>
          </p:cNvPr>
          <p:cNvSpPr/>
          <p:nvPr/>
        </p:nvSpPr>
        <p:spPr>
          <a:xfrm>
            <a:off x="3321120" y="1663541"/>
            <a:ext cx="973950" cy="973950"/>
          </a:xfrm>
          <a:prstGeom prst="ellipse">
            <a:avLst/>
          </a:prstGeom>
          <a:solidFill>
            <a:srgbClr val="FFD9A3"/>
          </a:solidFill>
          <a:ln w="38100">
            <a:solidFill>
              <a:srgbClr val="38AF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0" name="Graphique 9" descr="Signe pouce en haut contour">
            <a:extLst>
              <a:ext uri="{FF2B5EF4-FFF2-40B4-BE49-F238E27FC236}">
                <a16:creationId xmlns:a16="http://schemas.microsoft.com/office/drawing/2014/main" id="{F01ED586-7AAA-7281-1C40-EF8EC787A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3540" y="1794510"/>
            <a:ext cx="708660" cy="708660"/>
          </a:xfrm>
          <a:prstGeom prst="rect">
            <a:avLst/>
          </a:prstGeom>
        </p:spPr>
      </p:pic>
      <p:sp>
        <p:nvSpPr>
          <p:cNvPr id="21" name="Ellipse 20">
            <a:extLst>
              <a:ext uri="{FF2B5EF4-FFF2-40B4-BE49-F238E27FC236}">
                <a16:creationId xmlns:a16="http://schemas.microsoft.com/office/drawing/2014/main" id="{76719079-FCE6-7584-CE64-7CF1A366EA46}"/>
              </a:ext>
            </a:extLst>
          </p:cNvPr>
          <p:cNvSpPr/>
          <p:nvPr/>
        </p:nvSpPr>
        <p:spPr>
          <a:xfrm>
            <a:off x="7867155" y="1663541"/>
            <a:ext cx="973950" cy="973950"/>
          </a:xfrm>
          <a:prstGeom prst="ellipse">
            <a:avLst/>
          </a:prstGeom>
          <a:solidFill>
            <a:srgbClr val="FFD9A3"/>
          </a:solidFill>
          <a:ln w="38100">
            <a:solidFill>
              <a:srgbClr val="EC42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12" name="Graphique 11" descr="Pouce en bas contour">
            <a:extLst>
              <a:ext uri="{FF2B5EF4-FFF2-40B4-BE49-F238E27FC236}">
                <a16:creationId xmlns:a16="http://schemas.microsoft.com/office/drawing/2014/main" id="{00153A8D-A83C-0999-EDAE-EA8EBB5E1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9800" y="1794510"/>
            <a:ext cx="708660" cy="7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20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7341-3C9A-CCF4-7909-C2C38440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19848474-D547-3757-23FB-559CD649A109}"/>
              </a:ext>
            </a:extLst>
          </p:cNvPr>
          <p:cNvSpPr/>
          <p:nvPr/>
        </p:nvSpPr>
        <p:spPr>
          <a:xfrm>
            <a:off x="1100982" y="304800"/>
            <a:ext cx="9990037" cy="6232624"/>
          </a:xfrm>
          <a:prstGeom prst="roundRect">
            <a:avLst/>
          </a:prstGeom>
          <a:solidFill>
            <a:srgbClr val="FF95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7B3FFE-229F-85F2-DB10-47A05CBE11A9}"/>
              </a:ext>
            </a:extLst>
          </p:cNvPr>
          <p:cNvSpPr/>
          <p:nvPr/>
        </p:nvSpPr>
        <p:spPr>
          <a:xfrm>
            <a:off x="1625600" y="952500"/>
            <a:ext cx="1257300" cy="3048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5D13D-824D-D757-B8A0-A3517246CCDF}"/>
              </a:ext>
            </a:extLst>
          </p:cNvPr>
          <p:cNvSpPr/>
          <p:nvPr/>
        </p:nvSpPr>
        <p:spPr>
          <a:xfrm>
            <a:off x="1625600" y="1326902"/>
            <a:ext cx="939800" cy="3048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42051-DF13-51D5-9C17-91371C98D2C0}"/>
              </a:ext>
            </a:extLst>
          </p:cNvPr>
          <p:cNvSpPr/>
          <p:nvPr/>
        </p:nvSpPr>
        <p:spPr>
          <a:xfrm>
            <a:off x="9150350" y="5488112"/>
            <a:ext cx="1257300" cy="3048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4E93E-EC87-D9B1-90EC-1F6C3F68BCA8}"/>
              </a:ext>
            </a:extLst>
          </p:cNvPr>
          <p:cNvSpPr/>
          <p:nvPr/>
        </p:nvSpPr>
        <p:spPr>
          <a:xfrm>
            <a:off x="9467850" y="5860368"/>
            <a:ext cx="939800" cy="3048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5582FB-C990-FDE1-60FA-E4BB544D1D9B}"/>
              </a:ext>
            </a:extLst>
          </p:cNvPr>
          <p:cNvSpPr/>
          <p:nvPr/>
        </p:nvSpPr>
        <p:spPr>
          <a:xfrm>
            <a:off x="9467850" y="5115856"/>
            <a:ext cx="939800" cy="30480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12A853-1111-F382-5872-6F8AFE692599}"/>
              </a:ext>
            </a:extLst>
          </p:cNvPr>
          <p:cNvSpPr txBox="1"/>
          <p:nvPr/>
        </p:nvSpPr>
        <p:spPr>
          <a:xfrm>
            <a:off x="1517333" y="2847027"/>
            <a:ext cx="4391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>
                <a:solidFill>
                  <a:sysClr val="windowText" lastClr="000000"/>
                </a:solidFill>
              </a:rPr>
              <a:t>Références</a:t>
            </a:r>
            <a:endParaRPr lang="fr-CH" sz="1800" b="1">
              <a:solidFill>
                <a:sysClr val="windowText" lastClr="00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C17D16-C1E9-6493-20FD-D17B070730BF}"/>
              </a:ext>
            </a:extLst>
          </p:cNvPr>
          <p:cNvSpPr txBox="1"/>
          <p:nvPr/>
        </p:nvSpPr>
        <p:spPr>
          <a:xfrm>
            <a:off x="1517333" y="3216359"/>
            <a:ext cx="43919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/>
              <a:t>• cloud.google.com/vertex-ai</a:t>
            </a:r>
            <a:br>
              <a:rPr lang="fr-CH"/>
            </a:br>
            <a:r>
              <a:rPr lang="fr-CH"/>
              <a:t>• cloud.google.com/vertex-ai/docs</a:t>
            </a:r>
            <a:br>
              <a:rPr lang="fr-CH"/>
            </a:br>
            <a:r>
              <a:rPr lang="fr-CH"/>
              <a:t>• cloud.google.com/vertex-ai/</a:t>
            </a:r>
            <a:r>
              <a:rPr lang="fr-CH" err="1"/>
              <a:t>pricing</a:t>
            </a:r>
            <a:br>
              <a:rPr lang="fr-CH"/>
            </a:br>
            <a:r>
              <a:rPr lang="fr-CH"/>
              <a:t>• Tuto </a:t>
            </a:r>
            <a:r>
              <a:rPr lang="fr-CH" err="1"/>
              <a:t>AutoML</a:t>
            </a:r>
            <a:r>
              <a:rPr lang="fr-CH"/>
              <a:t> </a:t>
            </a:r>
            <a:r>
              <a:rPr lang="fr-CH" err="1"/>
              <a:t>Tabular</a:t>
            </a:r>
            <a:r>
              <a:rPr lang="fr-CH"/>
              <a:t> (docs)</a:t>
            </a:r>
            <a:br>
              <a:rPr lang="fr-CH"/>
            </a:br>
            <a:r>
              <a:rPr lang="fr-CH"/>
              <a:t>• SDK Python google-cloud-</a:t>
            </a:r>
            <a:r>
              <a:rPr lang="fr-CH" err="1"/>
              <a:t>aiplatform</a:t>
            </a:r>
            <a:endParaRPr lang="fr-CH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64979C-AFDB-1636-92D3-F282DC1C4965}"/>
              </a:ext>
            </a:extLst>
          </p:cNvPr>
          <p:cNvSpPr txBox="1"/>
          <p:nvPr/>
        </p:nvSpPr>
        <p:spPr>
          <a:xfrm>
            <a:off x="6094096" y="3216359"/>
            <a:ext cx="4821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/>
              <a:t>• 3 briques utiles : </a:t>
            </a:r>
            <a:r>
              <a:rPr lang="fr-CH" err="1"/>
              <a:t>AutoML</a:t>
            </a:r>
            <a:r>
              <a:rPr lang="fr-CH"/>
              <a:t> · </a:t>
            </a:r>
            <a:r>
              <a:rPr lang="fr-CH" err="1"/>
              <a:t>Serving</a:t>
            </a:r>
            <a:r>
              <a:rPr lang="fr-CH"/>
              <a:t> · Gemini</a:t>
            </a:r>
            <a:br>
              <a:rPr lang="fr-CH"/>
            </a:br>
            <a:r>
              <a:rPr lang="fr-CH"/>
              <a:t>• Coût = </a:t>
            </a:r>
            <a:r>
              <a:rPr lang="fr-CH" err="1"/>
              <a:t>compute</a:t>
            </a:r>
            <a:r>
              <a:rPr lang="fr-CH"/>
              <a:t> + stockage, à l'usage</a:t>
            </a:r>
            <a:br>
              <a:rPr lang="fr-CH"/>
            </a:br>
            <a:r>
              <a:rPr lang="fr-CH"/>
              <a:t>• Endpoint </a:t>
            </a:r>
            <a:r>
              <a:rPr lang="fr-CH" err="1"/>
              <a:t>always</a:t>
            </a:r>
            <a:r>
              <a:rPr lang="fr-CH"/>
              <a:t>-on = piège n°1</a:t>
            </a:r>
            <a:br>
              <a:rPr lang="fr-CH"/>
            </a:br>
            <a:r>
              <a:rPr lang="fr-CH"/>
              <a:t>• Données restent exportable</a:t>
            </a:r>
          </a:p>
          <a:p>
            <a:r>
              <a:rPr lang="fr-CH"/>
              <a:t>• Vertex AI est pertinent pour une PME qui veut aller vite sans équipe </a:t>
            </a:r>
            <a:r>
              <a:rPr lang="fr-CH" err="1"/>
              <a:t>MLOps</a:t>
            </a:r>
            <a:endParaRPr lang="fr-CH"/>
          </a:p>
          <a:p>
            <a:endParaRPr lang="fr-CH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99E55D5-9C9E-D9E6-60A1-F7D03E18F177}"/>
              </a:ext>
            </a:extLst>
          </p:cNvPr>
          <p:cNvSpPr txBox="1"/>
          <p:nvPr/>
        </p:nvSpPr>
        <p:spPr>
          <a:xfrm>
            <a:off x="6094096" y="2847027"/>
            <a:ext cx="4391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>
                <a:solidFill>
                  <a:sysClr val="windowText" lastClr="000000"/>
                </a:solidFill>
              </a:rPr>
              <a:t>Ã </a:t>
            </a:r>
            <a:r>
              <a:rPr lang="fr-FR" sz="1800" b="1">
                <a:solidFill>
                  <a:sysClr val="windowText" lastClr="000000"/>
                </a:solidFill>
              </a:rPr>
              <a:t>retenir</a:t>
            </a:r>
            <a:endParaRPr lang="fr-CH" sz="1800" b="1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7843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4CC1E3A-DB0B-4CC8-86A4-312ECB27AE3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66d98eb-0923-4ca9-bdb6-bd9abafd7bd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e021b2-da91-4e07-992b-99c9d5bd38c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432095BF2BE42ACB66A65D7E04D5F" ma:contentTypeVersion="10" ma:contentTypeDescription="Crée un document." ma:contentTypeScope="" ma:versionID="81c34f2ef7a1c715eb5b5a36f12911ca">
  <xsd:schema xmlns:xsd="http://www.w3.org/2001/XMLSchema" xmlns:xs="http://www.w3.org/2001/XMLSchema" xmlns:p="http://schemas.microsoft.com/office/2006/metadata/properties" xmlns:ns3="cfe021b2-da91-4e07-992b-99c9d5bd38ce" targetNamespace="http://schemas.microsoft.com/office/2006/metadata/properties" ma:root="true" ma:fieldsID="0e0f98d3017515a6849596f44a24f1ff" ns3:_="">
    <xsd:import namespace="cfe021b2-da91-4e07-992b-99c9d5bd38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e021b2-da91-4e07-992b-99c9d5bd38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BE8EB-FCA7-4BAE-8D89-DD8A293B7788}">
  <ds:schemaRefs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cfe021b2-da91-4e07-992b-99c9d5bd38ce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5F46F93-6D9A-468F-BF36-26FC52681DAD}">
  <ds:schemaRefs>
    <ds:schemaRef ds:uri="cfe021b2-da91-4e07-992b-99c9d5bd38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ABFB92-CDEB-4F25-B08A-3A9D86B5A9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783</Words>
  <Application>Microsoft Office PowerPoint</Application>
  <PresentationFormat>Grand écran</PresentationFormat>
  <Paragraphs>195</Paragraphs>
  <Slides>18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Essinger Benoît</dc:creator>
  <cp:lastModifiedBy>Essinger Benoît</cp:lastModifiedBy>
  <cp:revision>2</cp:revision>
  <dcterms:created xsi:type="dcterms:W3CDTF">2026-06-08T07:54:19Z</dcterms:created>
  <dcterms:modified xsi:type="dcterms:W3CDTF">2026-06-12T12:44:54Z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0x0101008BE432095BF2BE42ACB66A65D7E04D5F</vt:lpwstr>
  </property>
</Properties>
</file>